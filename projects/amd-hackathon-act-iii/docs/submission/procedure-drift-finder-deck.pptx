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b3823835-d8ef-cdee-1630-3577361be308}">
          <p14:sldIdLst>
            <p14:sldId id="256"/>
            <p14:sldId id="257"/>
            <p14:sldId id="258"/>
          </p14:sldIdLst>
        </p14:section>
        <p14:section name="Product" id="{14040f63-56ad-b305-a857-0344e48bd81c}">
          <p14:sldIdLst>
            <p14:sldId id="259"/>
          </p14:sldIdLst>
        </p14:section>
        <p14:section name="Proof" id="{4371e5f2-123b-4a67-2c93-a282404692ff}">
          <p14:sldIdLst>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0:00-0:05. Say: 'Procedure Drift Finder. AI proposes. Code proves.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0:05-0:22. Say: 'This procedure says: tell the line crew before you isolate the line. This shift note says they didn't. It is one of two hundred notes nobody has time to read. Safety teams call this drift. When it becomes normal, nobody notices until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0:22-0:40. Say: 'Here is how it works. Plain code loads the procedures and picks which steps a note might be about. The AI judge reads the note and proposes a drift, with the exact quote. Then code, not AI, checks that the quote really appears in the note, word for word. If it does not, the flag is thrown away. Only then does a person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APP SEGMENT, 0:58-2:08. If the screen recording fails, show this slide instead and narrate the same lines.
0:58-1:32 (Overview, Heat Strip, click the darkest tile, open Evidence Viewer on the hero flag): 'Here is where practice drifts most. Click a tile and you see the written step, the exact words from the note, and the same step on other shifts. Every quote is checked word for word by plain code.'
1:32-1:50 (the SOP-outdated flag): 'Not every drift is a violation. Here the note says the SOP still asks for a paper log nobody has. The fix is not blaming a person. It is updating the procedure.'
1:50-2:08 (Review Queue, click Approve): 'The AI proposes. People decide. We show the least certain flags first, and this is never a safety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2:08-2:32. Say: 'Against twenty-five planted drifts: {{PRECISION}} precision and {{RECALL}} recall. The model proposed {{PROPOSED}} flags. Plain code dropped {{DROPPED}} because the quote was not in the note. {{FALSE}} false alarms are listed in the app, because trust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0:40-0:58, shown over the terminal clip. Say: 'The AI judge runs on {{GPU}} through vLLM and ROCm. {{NPM}} notes a minute: two hundred notes in {{SECONDS}}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2:32-2:55. Say: 'Reading two hundred notes by hand takes about {{MANUAL}} minutes. With the tool, {{TOOL}}. It never replaces a safety control: a person makes every call. Next: drafting SOP fixes and weekly drift alerts. AI proposes. Code proves.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22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694944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222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6949440" cy="2011680"/>
          </a:xfrm>
          <a:prstGeom prst="rect">
            <a:avLst/>
          </a:prstGeom>
          <a:noFill/>
          <a:ln/>
        </p:spPr>
        <p:txBody>
          <a:bodyPr wrap="square" lIns="0" tIns="0" rIns="0" bIns="0" rtlCol="0" anchor="t"/>
          <a:lstStyle/>
          <a:p>
            <a:pPr algn="l" indent="0" marL="0">
              <a:buNone/>
            </a:pPr>
            <a:r>
              <a:rPr lang="en-US" sz="5400" b="1" dirty="0">
                <a:solidFill>
                  <a:schemeClr val="bg1"/>
                </a:solidFill>
              </a:rPr>
              <a:t>Procedure Drift Finder</a:t>
            </a:r>
            <a:endParaRPr lang="en-US" sz="5400" dirty="0"/>
          </a:p>
        </p:txBody>
      </p:sp>
      <p:sp>
        <p:nvSpPr>
          <p:cNvPr id="3" name="Text 1"/>
          <p:cNvSpPr txBox="1"/>
          <p:nvPr/>
        </p:nvSpPr>
        <p:spPr>
          <a:xfrm>
            <a:off x="731520" y="3657600"/>
            <a:ext cx="6949440" cy="640080"/>
          </a:xfrm>
          <a:prstGeom prst="rect">
            <a:avLst/>
          </a:prstGeom>
          <a:noFill/>
          <a:ln/>
        </p:spPr>
        <p:txBody>
          <a:bodyPr wrap="square" lIns="0" tIns="0" rIns="0" bIns="0" rtlCol="0" anchor="t"/>
          <a:lstStyle/>
          <a:p>
            <a:pPr indent="0" marL="0">
              <a:buNone/>
            </a:pPr>
            <a:r>
              <a:rPr lang="en-US" sz="2800" b="1" i="1" dirty="0">
                <a:solidFill>
                  <a:schemeClr val="accent1"/>
                </a:solidFill>
              </a:rPr>
              <a:t>AI proposes. Code proves. People decide.</a:t>
            </a:r>
            <a:endParaRPr lang="en-US" sz="2800" dirty="0"/>
          </a:p>
        </p:txBody>
      </p:sp>
      <p:sp>
        <p:nvSpPr>
          <p:cNvPr id="4" name="Text 2"/>
          <p:cNvSpPr txBox="1"/>
          <p:nvPr/>
        </p:nvSpPr>
        <p:spPr>
          <a:xfrm>
            <a:off x="731520" y="5669280"/>
            <a:ext cx="7315200" cy="365760"/>
          </a:xfrm>
          <a:prstGeom prst="rect">
            <a:avLst/>
          </a:prstGeom>
          <a:noFill/>
          <a:ln/>
        </p:spPr>
        <p:txBody>
          <a:bodyPr wrap="square" lIns="0" tIns="0" rIns="0" bIns="0" rtlCol="0" anchor="t"/>
          <a:lstStyle/>
          <a:p>
            <a:pPr indent="0" marL="0">
              <a:buNone/>
            </a:pPr>
            <a:r>
              <a:rPr lang="en-US" sz="1400" dirty="0">
                <a:solidFill>
                  <a:srgbClr val="B8C4CC"/>
                </a:solidFill>
              </a:rPr>
              <a:t>AMD Developer Hackathon: ACT III  |  Track 1: Intelligent Industry</a:t>
            </a:r>
            <a:endParaRPr lang="en-US" sz="1400" dirty="0"/>
          </a:p>
        </p:txBody>
      </p:sp>
      <p:sp>
        <p:nvSpPr>
          <p:cNvPr id="5" name="Text 3"/>
          <p:cNvSpPr txBox="1"/>
          <p:nvPr/>
        </p:nvSpPr>
        <p:spPr>
          <a:xfrm>
            <a:off x="731520" y="6035040"/>
            <a:ext cx="7315200" cy="365760"/>
          </a:xfrm>
          <a:prstGeom prst="rect">
            <a:avLst/>
          </a:prstGeom>
          <a:noFill/>
          <a:ln/>
        </p:spPr>
        <p:txBody>
          <a:bodyPr wrap="square" lIns="0" tIns="0" rIns="0" bIns="0" rtlCol="0" anchor="t"/>
          <a:lstStyle/>
          <a:p>
            <a:pPr indent="0" marL="0">
              <a:buNone/>
            </a:pPr>
            <a:r>
              <a:rPr lang="en-US" sz="1200" dirty="0">
                <a:solidFill>
                  <a:srgbClr val="B8C4CC"/>
                </a:solidFill>
              </a:rPr>
              <a:t>All data in this project is synthetic.</a:t>
            </a:r>
            <a:endParaRPr lang="en-US" sz="1200" dirty="0"/>
          </a:p>
        </p:txBody>
      </p:sp>
      <p:sp>
        <p:nvSpPr>
          <p:cNvPr id="6" name="Shape 4"/>
          <p:cNvSpPr/>
          <p:nvPr/>
        </p:nvSpPr>
        <p:spPr>
          <a:xfrm>
            <a:off x="8412480" y="1463040"/>
            <a:ext cx="1188720" cy="1188720"/>
          </a:xfrm>
          <a:prstGeom prst="rect">
            <a:avLst/>
          </a:prstGeom>
          <a:solidFill>
            <a:schemeClr val="accent2"/>
          </a:solidFill>
          <a:ln w="12700">
            <a:solidFill>
              <a:schemeClr val="accent2"/>
            </a:solidFill>
            <a:prstDash val="solid"/>
          </a:ln>
        </p:spPr>
      </p:sp>
      <p:sp>
        <p:nvSpPr>
          <p:cNvPr id="7" name="Text 5"/>
          <p:cNvSpPr txBox="1"/>
          <p:nvPr/>
        </p:nvSpPr>
        <p:spPr>
          <a:xfrm>
            <a:off x="8412480" y="1463040"/>
            <a:ext cx="1188720" cy="1188720"/>
          </a:xfrm>
          <a:prstGeom prst="rect">
            <a:avLst/>
          </a:prstGeom>
          <a:noFill/>
          <a:ln/>
        </p:spPr>
        <p:txBody>
          <a:bodyPr wrap="square" lIns="0" tIns="0" rIns="0" bIns="0" rtlCol="0" anchor="ctr"/>
          <a:lstStyle/>
          <a:p>
            <a:pPr algn="ctr" indent="0" marL="0">
              <a:buNone/>
            </a:pPr>
            <a:r>
              <a:rPr lang="en-US" sz="2000" b="1" dirty="0">
                <a:solidFill>
                  <a:schemeClr val="bg1"/>
                </a:solidFill>
              </a:rPr>
              <a:t>AI</a:t>
            </a:r>
            <a:endParaRPr lang="en-US" sz="2000" dirty="0"/>
          </a:p>
        </p:txBody>
      </p:sp>
      <p:sp>
        <p:nvSpPr>
          <p:cNvPr id="8" name="Text 6"/>
          <p:cNvSpPr txBox="1"/>
          <p:nvPr/>
        </p:nvSpPr>
        <p:spPr>
          <a:xfrm>
            <a:off x="9829800" y="1463040"/>
            <a:ext cx="2011680" cy="1188720"/>
          </a:xfrm>
          <a:prstGeom prst="rect">
            <a:avLst/>
          </a:prstGeom>
          <a:noFill/>
          <a:ln/>
        </p:spPr>
        <p:txBody>
          <a:bodyPr wrap="square" lIns="0" tIns="0" rIns="0" bIns="0" rtlCol="0" anchor="ctr"/>
          <a:lstStyle/>
          <a:p>
            <a:pPr indent="0" marL="0">
              <a:buNone/>
            </a:pPr>
            <a:r>
              <a:rPr lang="en-US" sz="1800" b="1" dirty="0">
                <a:solidFill>
                  <a:schemeClr val="bg1"/>
                </a:solidFill>
              </a:rPr>
              <a:t>proposes a flag</a:t>
            </a:r>
            <a:endParaRPr lang="en-US" sz="1800" dirty="0"/>
          </a:p>
        </p:txBody>
      </p:sp>
      <p:sp>
        <p:nvSpPr>
          <p:cNvPr id="9" name="Shape 7"/>
          <p:cNvSpPr/>
          <p:nvPr/>
        </p:nvSpPr>
        <p:spPr>
          <a:xfrm>
            <a:off x="8412480" y="2926080"/>
            <a:ext cx="1188720" cy="1188720"/>
          </a:xfrm>
          <a:prstGeom prst="rect">
            <a:avLst/>
          </a:prstGeom>
          <a:solidFill>
            <a:schemeClr val="tx2"/>
          </a:solidFill>
          <a:ln w="12700">
            <a:solidFill>
              <a:schemeClr val="tx2"/>
            </a:solidFill>
            <a:prstDash val="solid"/>
          </a:ln>
        </p:spPr>
      </p:sp>
      <p:sp>
        <p:nvSpPr>
          <p:cNvPr id="10" name="Text 8"/>
          <p:cNvSpPr txBox="1"/>
          <p:nvPr/>
        </p:nvSpPr>
        <p:spPr>
          <a:xfrm>
            <a:off x="8412480" y="2926080"/>
            <a:ext cx="1188720" cy="1188720"/>
          </a:xfrm>
          <a:prstGeom prst="rect">
            <a:avLst/>
          </a:prstGeom>
          <a:noFill/>
          <a:ln/>
        </p:spPr>
        <p:txBody>
          <a:bodyPr wrap="square" lIns="0" tIns="0" rIns="0" bIns="0" rtlCol="0" anchor="ctr"/>
          <a:lstStyle/>
          <a:p>
            <a:pPr algn="ctr" indent="0" marL="0">
              <a:buNone/>
            </a:pPr>
            <a:r>
              <a:rPr lang="en-US" sz="2000" b="1" dirty="0">
                <a:solidFill>
                  <a:schemeClr val="bg1"/>
                </a:solidFill>
              </a:rPr>
              <a:t>CODE</a:t>
            </a:r>
            <a:endParaRPr lang="en-US" sz="2000" dirty="0"/>
          </a:p>
        </p:txBody>
      </p:sp>
      <p:sp>
        <p:nvSpPr>
          <p:cNvPr id="11" name="Text 9"/>
          <p:cNvSpPr txBox="1"/>
          <p:nvPr/>
        </p:nvSpPr>
        <p:spPr>
          <a:xfrm>
            <a:off x="9829800" y="2926080"/>
            <a:ext cx="2011680" cy="1188720"/>
          </a:xfrm>
          <a:prstGeom prst="rect">
            <a:avLst/>
          </a:prstGeom>
          <a:noFill/>
          <a:ln/>
        </p:spPr>
        <p:txBody>
          <a:bodyPr wrap="square" lIns="0" tIns="0" rIns="0" bIns="0" rtlCol="0" anchor="ctr"/>
          <a:lstStyle/>
          <a:p>
            <a:pPr indent="0" marL="0">
              <a:buNone/>
            </a:pPr>
            <a:r>
              <a:rPr lang="en-US" sz="1800" b="1" dirty="0">
                <a:solidFill>
                  <a:schemeClr val="bg1"/>
                </a:solidFill>
              </a:rPr>
              <a:t>proves the quote is real</a:t>
            </a:r>
            <a:endParaRPr lang="en-US" sz="1800" dirty="0"/>
          </a:p>
        </p:txBody>
      </p:sp>
      <p:sp>
        <p:nvSpPr>
          <p:cNvPr id="12" name="Shape 10"/>
          <p:cNvSpPr/>
          <p:nvPr/>
        </p:nvSpPr>
        <p:spPr>
          <a:xfrm>
            <a:off x="8412480" y="4389120"/>
            <a:ext cx="1188720" cy="1188720"/>
          </a:xfrm>
          <a:prstGeom prst="rect">
            <a:avLst/>
          </a:prstGeom>
          <a:solidFill>
            <a:schemeClr val="accent1"/>
          </a:solidFill>
          <a:ln w="12700">
            <a:solidFill>
              <a:schemeClr val="accent1"/>
            </a:solidFill>
            <a:prstDash val="solid"/>
          </a:ln>
        </p:spPr>
      </p:sp>
      <p:sp>
        <p:nvSpPr>
          <p:cNvPr id="13" name="Text 11"/>
          <p:cNvSpPr txBox="1"/>
          <p:nvPr/>
        </p:nvSpPr>
        <p:spPr>
          <a:xfrm>
            <a:off x="8412480" y="4389120"/>
            <a:ext cx="1188720" cy="1188720"/>
          </a:xfrm>
          <a:prstGeom prst="rect">
            <a:avLst/>
          </a:prstGeom>
          <a:noFill/>
          <a:ln/>
        </p:spPr>
        <p:txBody>
          <a:bodyPr wrap="square" lIns="0" tIns="0" rIns="0" bIns="0" rtlCol="0" anchor="ctr"/>
          <a:lstStyle/>
          <a:p>
            <a:pPr algn="ctr" indent="0" marL="0">
              <a:buNone/>
            </a:pPr>
            <a:r>
              <a:rPr lang="en-US" sz="1500" b="1" dirty="0">
                <a:solidFill>
                  <a:schemeClr val="bg1"/>
                </a:solidFill>
              </a:rPr>
              <a:t>PEOPLE</a:t>
            </a:r>
            <a:endParaRPr lang="en-US" sz="1500" dirty="0"/>
          </a:p>
        </p:txBody>
      </p:sp>
      <p:sp>
        <p:nvSpPr>
          <p:cNvPr id="14" name="Text 12"/>
          <p:cNvSpPr txBox="1"/>
          <p:nvPr/>
        </p:nvSpPr>
        <p:spPr>
          <a:xfrm>
            <a:off x="9829800" y="4389120"/>
            <a:ext cx="2011680" cy="1188720"/>
          </a:xfrm>
          <a:prstGeom prst="rect">
            <a:avLst/>
          </a:prstGeom>
          <a:noFill/>
          <a:ln/>
        </p:spPr>
        <p:txBody>
          <a:bodyPr wrap="square" lIns="0" tIns="0" rIns="0" bIns="0" rtlCol="0" anchor="ctr"/>
          <a:lstStyle/>
          <a:p>
            <a:pPr indent="0" marL="0">
              <a:buNone/>
            </a:pPr>
            <a:r>
              <a:rPr lang="en-US" sz="1800" b="1" dirty="0">
                <a:solidFill>
                  <a:schemeClr val="bg1"/>
                </a:solidFill>
              </a:rPr>
              <a:t>decide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3800" b="1" dirty="0">
                <a:solidFill>
                  <a:schemeClr val="tx1"/>
                </a:solidFill>
              </a:rPr>
              <a:t>One written step. One shift note. A gap</a:t>
            </a:r>
            <a:endParaRPr lang="en-US" sz="3800" dirty="0"/>
          </a:p>
        </p:txBody>
      </p:sp>
      <p:sp>
        <p:nvSpPr>
          <p:cNvPr id="3" name="Shape 1"/>
          <p:cNvSpPr/>
          <p:nvPr/>
        </p:nvSpPr>
        <p:spPr>
          <a:xfrm>
            <a:off x="548640" y="1600200"/>
            <a:ext cx="5120640" cy="301752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4" name="Shape 2"/>
          <p:cNvSpPr/>
          <p:nvPr/>
        </p:nvSpPr>
        <p:spPr>
          <a:xfrm>
            <a:off x="914400" y="1920240"/>
            <a:ext cx="457200" cy="457200"/>
          </a:xfrm>
          <a:prstGeom prst="rect">
            <a:avLst/>
          </a:prstGeom>
          <a:solidFill>
            <a:schemeClr val="tx1"/>
          </a:solidFill>
          <a:ln w="12700">
            <a:solidFill>
              <a:schemeClr val="tx1"/>
            </a:solidFill>
            <a:prstDash val="solid"/>
          </a:ln>
        </p:spPr>
      </p:sp>
      <p:sp>
        <p:nvSpPr>
          <p:cNvPr id="5" name="Text 3"/>
          <p:cNvSpPr txBox="1"/>
          <p:nvPr/>
        </p:nvSpPr>
        <p:spPr>
          <a:xfrm>
            <a:off x="91440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54480" y="1920240"/>
            <a:ext cx="3931920" cy="457200"/>
          </a:xfrm>
          <a:prstGeom prst="rect">
            <a:avLst/>
          </a:prstGeom>
          <a:noFill/>
          <a:ln/>
        </p:spPr>
        <p:txBody>
          <a:bodyPr wrap="square" lIns="0" tIns="0" rIns="0" bIns="0" rtlCol="0" anchor="ctr"/>
          <a:lstStyle/>
          <a:p>
            <a:pPr indent="0" marL="0">
              <a:buNone/>
            </a:pPr>
            <a:r>
              <a:rPr lang="en-US" sz="1200" b="1" dirty="0">
                <a:solidFill>
                  <a:schemeClr val="tx2"/>
                </a:solidFill>
              </a:rPr>
              <a:t>WRITTEN PROCEDURE: SOP-01, STEP 1</a:t>
            </a:r>
            <a:endParaRPr lang="en-US" sz="1200" dirty="0"/>
          </a:p>
        </p:txBody>
      </p:sp>
      <p:sp>
        <p:nvSpPr>
          <p:cNvPr id="7" name="Shape 5"/>
          <p:cNvSpPr/>
          <p:nvPr/>
        </p:nvSpPr>
        <p:spPr>
          <a:xfrm>
            <a:off x="6519672" y="1600200"/>
            <a:ext cx="5120640" cy="301752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8" name="Shape 6"/>
          <p:cNvSpPr/>
          <p:nvPr/>
        </p:nvSpPr>
        <p:spPr>
          <a:xfrm>
            <a:off x="6885432" y="1920240"/>
            <a:ext cx="457200" cy="457200"/>
          </a:xfrm>
          <a:prstGeom prst="rect">
            <a:avLst/>
          </a:prstGeom>
          <a:solidFill>
            <a:schemeClr val="accent1"/>
          </a:solidFill>
          <a:ln w="12700">
            <a:solidFill>
              <a:schemeClr val="accent1"/>
            </a:solidFill>
            <a:prstDash val="solid"/>
          </a:ln>
        </p:spPr>
      </p:sp>
      <p:sp>
        <p:nvSpPr>
          <p:cNvPr id="9" name="Text 7"/>
          <p:cNvSpPr txBox="1"/>
          <p:nvPr/>
        </p:nvSpPr>
        <p:spPr>
          <a:xfrm>
            <a:off x="6885432"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0" name="Text 8"/>
          <p:cNvSpPr txBox="1"/>
          <p:nvPr/>
        </p:nvSpPr>
        <p:spPr>
          <a:xfrm>
            <a:off x="7525512" y="1920240"/>
            <a:ext cx="3931920" cy="457200"/>
          </a:xfrm>
          <a:prstGeom prst="rect">
            <a:avLst/>
          </a:prstGeom>
          <a:noFill/>
          <a:ln/>
        </p:spPr>
        <p:txBody>
          <a:bodyPr wrap="square" lIns="0" tIns="0" rIns="0" bIns="0" rtlCol="0" anchor="ctr"/>
          <a:lstStyle/>
          <a:p>
            <a:pPr indent="0" marL="0">
              <a:buNone/>
            </a:pPr>
            <a:r>
              <a:rPr lang="en-US" sz="1200" b="1" dirty="0">
                <a:solidFill>
                  <a:schemeClr val="tx2"/>
                </a:solidFill>
              </a:rPr>
              <a:t>SHIFT NOTE: NIGHT SHIFT, 1 SEP</a:t>
            </a:r>
            <a:endParaRPr lang="en-US" sz="1200" dirty="0"/>
          </a:p>
        </p:txBody>
      </p:sp>
      <p:sp>
        <p:nvSpPr>
          <p:cNvPr id="11" name="Text 9"/>
          <p:cNvSpPr txBox="1"/>
          <p:nvPr/>
        </p:nvSpPr>
        <p:spPr>
          <a:xfrm>
            <a:off x="914400" y="2743200"/>
            <a:ext cx="4389120" cy="2011680"/>
          </a:xfrm>
          <a:prstGeom prst="rect">
            <a:avLst/>
          </a:prstGeom>
          <a:noFill/>
          <a:ln/>
        </p:spPr>
        <p:txBody>
          <a:bodyPr wrap="square" lIns="0" tIns="0" rIns="0" bIns="0" rtlCol="0" anchor="t"/>
          <a:lstStyle/>
          <a:p>
            <a:pPr indent="0" marL="0">
              <a:buNone/>
            </a:pPr>
            <a:r>
              <a:rPr lang="en-US" sz="2200" dirty="0">
                <a:solidFill>
                  <a:schemeClr val="tx1"/>
                </a:solidFill>
              </a:rPr>
              <a:t>Tell the line crew and the shift supervisor that Line 3 is going down for maintenance.</a:t>
            </a:r>
            <a:endParaRPr lang="en-US" sz="2200" dirty="0"/>
          </a:p>
        </p:txBody>
      </p:sp>
      <p:sp>
        <p:nvSpPr>
          <p:cNvPr id="12" name="Text 10"/>
          <p:cNvSpPr txBox="1"/>
          <p:nvPr/>
        </p:nvSpPr>
        <p:spPr>
          <a:xfrm>
            <a:off x="6885432" y="2743200"/>
            <a:ext cx="4389120" cy="2011680"/>
          </a:xfrm>
          <a:prstGeom prst="rect">
            <a:avLst/>
          </a:prstGeom>
          <a:noFill/>
          <a:ln/>
        </p:spPr>
        <p:txBody>
          <a:bodyPr wrap="square" lIns="0" tIns="0" rIns="0" bIns="0" rtlCol="0" anchor="t"/>
          <a:lstStyle/>
          <a:p>
            <a:pPr indent="0" marL="0">
              <a:buNone/>
            </a:pPr>
            <a:r>
              <a:rPr lang="en-US" sz="2200" dirty="0">
                <a:solidFill>
                  <a:schemeClr val="tx1"/>
                </a:solidFill>
              </a:rPr>
              <a:t>Fitters swapped the Line 3 gearbox. Crew was on break so we </a:t>
            </a:r>
            <a:pPr indent="0" marL="0">
              <a:buNone/>
            </a:pPr>
            <a:r>
              <a:rPr lang="en-US" sz="2200" b="1" dirty="0">
                <a:solidFill>
                  <a:schemeClr val="tx1"/>
                </a:solidFill>
                <a:highlight>
                  <a:srgbClr val="FFC9A6"/>
                </a:highlight>
              </a:rPr>
              <a:t>didn't tell the line crew before isolating</a:t>
            </a:r>
            <a:pPr indent="0" marL="0">
              <a:buNone/>
            </a:pPr>
            <a:r>
              <a:rPr lang="en-US" sz="2200" dirty="0">
                <a:solidFill>
                  <a:schemeClr val="tx1"/>
                </a:solidFill>
              </a:rPr>
              <a:t>, supervisor was informed afterwards.</a:t>
            </a:r>
            <a:endParaRPr lang="en-US" sz="2200" dirty="0"/>
          </a:p>
        </p:txBody>
      </p:sp>
      <p:sp>
        <p:nvSpPr>
          <p:cNvPr id="13" name="Shape 11"/>
          <p:cNvSpPr/>
          <p:nvPr/>
        </p:nvSpPr>
        <p:spPr>
          <a:xfrm>
            <a:off x="5733288" y="2971800"/>
            <a:ext cx="731520" cy="731520"/>
          </a:xfrm>
          <a:prstGeom prst="ellipse">
            <a:avLst/>
          </a:prstGeom>
          <a:solidFill>
            <a:schemeClr val="accent1"/>
          </a:solidFill>
          <a:ln w="12700">
            <a:solidFill>
              <a:schemeClr val="accent1"/>
            </a:solidFill>
            <a:prstDash val="solid"/>
          </a:ln>
        </p:spPr>
      </p:sp>
      <p:sp>
        <p:nvSpPr>
          <p:cNvPr id="14" name="Text 12"/>
          <p:cNvSpPr txBox="1"/>
          <p:nvPr/>
        </p:nvSpPr>
        <p:spPr>
          <a:xfrm>
            <a:off x="5733288" y="297180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a:t>
            </a:r>
            <a:endParaRPr lang="en-US" sz="3000" dirty="0"/>
          </a:p>
        </p:txBody>
      </p:sp>
      <p:sp>
        <p:nvSpPr>
          <p:cNvPr id="15" name="Text 13"/>
          <p:cNvSpPr txBox="1"/>
          <p:nvPr/>
        </p:nvSpPr>
        <p:spPr>
          <a:xfrm>
            <a:off x="548640" y="5029200"/>
            <a:ext cx="11064240" cy="548640"/>
          </a:xfrm>
          <a:prstGeom prst="rect">
            <a:avLst/>
          </a:prstGeom>
          <a:noFill/>
          <a:ln/>
        </p:spPr>
        <p:txBody>
          <a:bodyPr wrap="square" lIns="0" tIns="0" rIns="0" bIns="0" rtlCol="0" anchor="t"/>
          <a:lstStyle/>
          <a:p>
            <a:pPr indent="0" marL="0">
              <a:buNone/>
            </a:pPr>
            <a:r>
              <a:rPr lang="en-US" sz="2200" b="1" dirty="0">
                <a:solidFill>
                  <a:schemeClr val="tx1"/>
                </a:solidFill>
              </a:rPr>
              <a:t>Two hundred notes like this sit unread. We read them, and show the proof.</a:t>
            </a:r>
            <a:endParaRPr lang="en-US" sz="2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3800" b="1" dirty="0">
                <a:solidFill>
                  <a:schemeClr val="tx1"/>
                </a:solidFill>
              </a:rPr>
              <a:t>AI proposes. Code proves. People decide</a:t>
            </a:r>
            <a:endParaRPr lang="en-US" sz="3800" dirty="0"/>
          </a:p>
        </p:txBody>
      </p:sp>
      <p:sp>
        <p:nvSpPr>
          <p:cNvPr id="3" name="Shape 1"/>
          <p:cNvSpPr/>
          <p:nvPr/>
        </p:nvSpPr>
        <p:spPr>
          <a:xfrm>
            <a:off x="548640" y="1554480"/>
            <a:ext cx="2011680" cy="31089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4" name="Shape 2"/>
          <p:cNvSpPr/>
          <p:nvPr/>
        </p:nvSpPr>
        <p:spPr>
          <a:xfrm>
            <a:off x="731520" y="1783080"/>
            <a:ext cx="914400" cy="310896"/>
          </a:xfrm>
          <a:prstGeom prst="roundRect">
            <a:avLst>
              <a:gd name="adj" fmla="val 17647"/>
            </a:avLst>
          </a:prstGeom>
          <a:solidFill>
            <a:schemeClr val="tx2"/>
          </a:solidFill>
          <a:ln w="12700">
            <a:solidFill>
              <a:schemeClr val="tx2"/>
            </a:solidFill>
            <a:prstDash val="solid"/>
          </a:ln>
        </p:spPr>
      </p:sp>
      <p:sp>
        <p:nvSpPr>
          <p:cNvPr id="5" name="Text 3"/>
          <p:cNvSpPr txBox="1"/>
          <p:nvPr/>
        </p:nvSpPr>
        <p:spPr>
          <a:xfrm>
            <a:off x="731520" y="178308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CODE</a:t>
            </a:r>
            <a:endParaRPr lang="en-US" sz="1100" dirty="0"/>
          </a:p>
        </p:txBody>
      </p:sp>
      <p:sp>
        <p:nvSpPr>
          <p:cNvPr id="6" name="Text 4"/>
          <p:cNvSpPr txBox="1"/>
          <p:nvPr/>
        </p:nvSpPr>
        <p:spPr>
          <a:xfrm>
            <a:off x="731520" y="2331720"/>
            <a:ext cx="1691640" cy="457200"/>
          </a:xfrm>
          <a:prstGeom prst="rect">
            <a:avLst/>
          </a:prstGeom>
          <a:noFill/>
          <a:ln/>
        </p:spPr>
        <p:txBody>
          <a:bodyPr wrap="square" lIns="0" tIns="0" rIns="0" bIns="0" rtlCol="0" anchor="t"/>
          <a:lstStyle/>
          <a:p>
            <a:pPr indent="0" marL="0">
              <a:buNone/>
            </a:pPr>
            <a:r>
              <a:rPr lang="en-US" sz="2000" b="1" dirty="0">
                <a:solidFill>
                  <a:schemeClr val="tx1"/>
                </a:solidFill>
              </a:rPr>
              <a:t>1  Load</a:t>
            </a:r>
            <a:endParaRPr lang="en-US" sz="2000" dirty="0"/>
          </a:p>
        </p:txBody>
      </p:sp>
      <p:sp>
        <p:nvSpPr>
          <p:cNvPr id="7" name="Text 5"/>
          <p:cNvSpPr txBox="1"/>
          <p:nvPr/>
        </p:nvSpPr>
        <p:spPr>
          <a:xfrm>
            <a:off x="731520" y="2880360"/>
            <a:ext cx="1691640" cy="1645920"/>
          </a:xfrm>
          <a:prstGeom prst="rect">
            <a:avLst/>
          </a:prstGeom>
          <a:noFill/>
          <a:ln/>
        </p:spPr>
        <p:txBody>
          <a:bodyPr wrap="square" lIns="0" tIns="0" rIns="0" bIns="0" rtlCol="0" anchor="t"/>
          <a:lstStyle/>
          <a:p>
            <a:pPr indent="0" marL="0">
              <a:buNone/>
            </a:pPr>
            <a:r>
              <a:rPr lang="en-US" sz="1400" dirty="0">
                <a:solidFill>
                  <a:schemeClr val="tx2"/>
                </a:solidFill>
              </a:rPr>
              <a:t>Split each SOP into numbered steps. Read the shift notes.</a:t>
            </a:r>
            <a:endParaRPr lang="en-US" sz="1400" dirty="0"/>
          </a:p>
        </p:txBody>
      </p:sp>
      <p:sp>
        <p:nvSpPr>
          <p:cNvPr id="8" name="Shape 6"/>
          <p:cNvSpPr/>
          <p:nvPr/>
        </p:nvSpPr>
        <p:spPr>
          <a:xfrm>
            <a:off x="2587752" y="2926080"/>
            <a:ext cx="201168" cy="274320"/>
          </a:xfrm>
          <a:prstGeom prst="rightArrow">
            <a:avLst/>
          </a:prstGeom>
          <a:solidFill>
            <a:schemeClr val="tx2"/>
          </a:solidFill>
          <a:ln w="12700">
            <a:solidFill>
              <a:schemeClr val="tx2"/>
            </a:solidFill>
            <a:prstDash val="solid"/>
          </a:ln>
        </p:spPr>
      </p:sp>
      <p:sp>
        <p:nvSpPr>
          <p:cNvPr id="9" name="Shape 7"/>
          <p:cNvSpPr/>
          <p:nvPr/>
        </p:nvSpPr>
        <p:spPr>
          <a:xfrm>
            <a:off x="2811780" y="1554480"/>
            <a:ext cx="2011680" cy="31089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10" name="Shape 8"/>
          <p:cNvSpPr/>
          <p:nvPr/>
        </p:nvSpPr>
        <p:spPr>
          <a:xfrm>
            <a:off x="2994660" y="1783080"/>
            <a:ext cx="914400" cy="310896"/>
          </a:xfrm>
          <a:prstGeom prst="roundRect">
            <a:avLst>
              <a:gd name="adj" fmla="val 17647"/>
            </a:avLst>
          </a:prstGeom>
          <a:solidFill>
            <a:schemeClr val="tx2"/>
          </a:solidFill>
          <a:ln w="12700">
            <a:solidFill>
              <a:schemeClr val="tx2"/>
            </a:solidFill>
            <a:prstDash val="solid"/>
          </a:ln>
        </p:spPr>
      </p:sp>
      <p:sp>
        <p:nvSpPr>
          <p:cNvPr id="11" name="Text 9"/>
          <p:cNvSpPr txBox="1"/>
          <p:nvPr/>
        </p:nvSpPr>
        <p:spPr>
          <a:xfrm>
            <a:off x="2994660" y="178308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CODE</a:t>
            </a:r>
            <a:endParaRPr lang="en-US" sz="1100" dirty="0"/>
          </a:p>
        </p:txBody>
      </p:sp>
      <p:sp>
        <p:nvSpPr>
          <p:cNvPr id="12" name="Text 10"/>
          <p:cNvSpPr txBox="1"/>
          <p:nvPr/>
        </p:nvSpPr>
        <p:spPr>
          <a:xfrm>
            <a:off x="2994660" y="2331720"/>
            <a:ext cx="1691640" cy="457200"/>
          </a:xfrm>
          <a:prstGeom prst="rect">
            <a:avLst/>
          </a:prstGeom>
          <a:noFill/>
          <a:ln/>
        </p:spPr>
        <p:txBody>
          <a:bodyPr wrap="square" lIns="0" tIns="0" rIns="0" bIns="0" rtlCol="0" anchor="t"/>
          <a:lstStyle/>
          <a:p>
            <a:pPr indent="0" marL="0">
              <a:buNone/>
            </a:pPr>
            <a:r>
              <a:rPr lang="en-US" sz="2000" b="1" dirty="0">
                <a:solidFill>
                  <a:schemeClr val="tx1"/>
                </a:solidFill>
              </a:rPr>
              <a:t>2  Match</a:t>
            </a:r>
            <a:endParaRPr lang="en-US" sz="2000" dirty="0"/>
          </a:p>
        </p:txBody>
      </p:sp>
      <p:sp>
        <p:nvSpPr>
          <p:cNvPr id="13" name="Text 11"/>
          <p:cNvSpPr txBox="1"/>
          <p:nvPr/>
        </p:nvSpPr>
        <p:spPr>
          <a:xfrm>
            <a:off x="2994660" y="2880360"/>
            <a:ext cx="1691640" cy="1645920"/>
          </a:xfrm>
          <a:prstGeom prst="rect">
            <a:avLst/>
          </a:prstGeom>
          <a:noFill/>
          <a:ln/>
        </p:spPr>
        <p:txBody>
          <a:bodyPr wrap="square" lIns="0" tIns="0" rIns="0" bIns="0" rtlCol="0" anchor="t"/>
          <a:lstStyle/>
          <a:p>
            <a:pPr indent="0" marL="0">
              <a:buNone/>
            </a:pPr>
            <a:r>
              <a:rPr lang="en-US" sz="1400" dirty="0">
                <a:solidFill>
                  <a:schemeClr val="tx2"/>
                </a:solidFill>
              </a:rPr>
              <a:t>Pick the few steps a note might be about. Plain Python, no model.</a:t>
            </a:r>
            <a:endParaRPr lang="en-US" sz="1400" dirty="0"/>
          </a:p>
        </p:txBody>
      </p:sp>
      <p:sp>
        <p:nvSpPr>
          <p:cNvPr id="14" name="Shape 12"/>
          <p:cNvSpPr/>
          <p:nvPr/>
        </p:nvSpPr>
        <p:spPr>
          <a:xfrm>
            <a:off x="4850892" y="2926080"/>
            <a:ext cx="201168" cy="274320"/>
          </a:xfrm>
          <a:prstGeom prst="rightArrow">
            <a:avLst/>
          </a:prstGeom>
          <a:solidFill>
            <a:schemeClr val="tx2"/>
          </a:solidFill>
          <a:ln w="12700">
            <a:solidFill>
              <a:schemeClr val="tx2"/>
            </a:solidFill>
            <a:prstDash val="solid"/>
          </a:ln>
        </p:spPr>
      </p:sp>
      <p:sp>
        <p:nvSpPr>
          <p:cNvPr id="15" name="Shape 13"/>
          <p:cNvSpPr/>
          <p:nvPr/>
        </p:nvSpPr>
        <p:spPr>
          <a:xfrm>
            <a:off x="5074920" y="1554480"/>
            <a:ext cx="2011680" cy="31089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16" name="Shape 14"/>
          <p:cNvSpPr/>
          <p:nvPr/>
        </p:nvSpPr>
        <p:spPr>
          <a:xfrm>
            <a:off x="5257800" y="1783080"/>
            <a:ext cx="914400" cy="310896"/>
          </a:xfrm>
          <a:prstGeom prst="roundRect">
            <a:avLst>
              <a:gd name="adj" fmla="val 17647"/>
            </a:avLst>
          </a:prstGeom>
          <a:solidFill>
            <a:schemeClr val="accent2"/>
          </a:solidFill>
          <a:ln w="12700">
            <a:solidFill>
              <a:schemeClr val="accent2"/>
            </a:solidFill>
            <a:prstDash val="solid"/>
          </a:ln>
        </p:spPr>
      </p:sp>
      <p:sp>
        <p:nvSpPr>
          <p:cNvPr id="17" name="Text 15"/>
          <p:cNvSpPr txBox="1"/>
          <p:nvPr/>
        </p:nvSpPr>
        <p:spPr>
          <a:xfrm>
            <a:off x="5257800" y="178308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AI</a:t>
            </a:r>
            <a:endParaRPr lang="en-US" sz="1100" dirty="0"/>
          </a:p>
        </p:txBody>
      </p:sp>
      <p:sp>
        <p:nvSpPr>
          <p:cNvPr id="18" name="Text 16"/>
          <p:cNvSpPr txBox="1"/>
          <p:nvPr/>
        </p:nvSpPr>
        <p:spPr>
          <a:xfrm>
            <a:off x="5257800" y="2331720"/>
            <a:ext cx="1691640" cy="457200"/>
          </a:xfrm>
          <a:prstGeom prst="rect">
            <a:avLst/>
          </a:prstGeom>
          <a:noFill/>
          <a:ln/>
        </p:spPr>
        <p:txBody>
          <a:bodyPr wrap="square" lIns="0" tIns="0" rIns="0" bIns="0" rtlCol="0" anchor="t"/>
          <a:lstStyle/>
          <a:p>
            <a:pPr indent="0" marL="0">
              <a:buNone/>
            </a:pPr>
            <a:r>
              <a:rPr lang="en-US" sz="2000" b="1" dirty="0">
                <a:solidFill>
                  <a:schemeClr val="tx1"/>
                </a:solidFill>
              </a:rPr>
              <a:t>3  Judge</a:t>
            </a:r>
            <a:endParaRPr lang="en-US" sz="2000" dirty="0"/>
          </a:p>
        </p:txBody>
      </p:sp>
      <p:sp>
        <p:nvSpPr>
          <p:cNvPr id="19" name="Text 17"/>
          <p:cNvSpPr txBox="1"/>
          <p:nvPr/>
        </p:nvSpPr>
        <p:spPr>
          <a:xfrm>
            <a:off x="5257800" y="2880360"/>
            <a:ext cx="1691640" cy="1645920"/>
          </a:xfrm>
          <a:prstGeom prst="rect">
            <a:avLst/>
          </a:prstGeom>
          <a:noFill/>
          <a:ln/>
        </p:spPr>
        <p:txBody>
          <a:bodyPr wrap="square" lIns="0" tIns="0" rIns="0" bIns="0" rtlCol="0" anchor="t"/>
          <a:lstStyle/>
          <a:p>
            <a:pPr indent="0" marL="0">
              <a:buNone/>
            </a:pPr>
            <a:r>
              <a:rPr lang="en-US" sz="1400" dirty="0">
                <a:solidFill>
                  <a:schemeClr val="tx2"/>
                </a:solidFill>
              </a:rPr>
              <a:t>Reads the note against those steps. Returns step, drift type, exact quote, confidence.</a:t>
            </a:r>
            <a:endParaRPr lang="en-US" sz="1400" dirty="0"/>
          </a:p>
        </p:txBody>
      </p:sp>
      <p:sp>
        <p:nvSpPr>
          <p:cNvPr id="20" name="Shape 18"/>
          <p:cNvSpPr/>
          <p:nvPr/>
        </p:nvSpPr>
        <p:spPr>
          <a:xfrm>
            <a:off x="7114032" y="2926080"/>
            <a:ext cx="201168" cy="274320"/>
          </a:xfrm>
          <a:prstGeom prst="rightArrow">
            <a:avLst/>
          </a:prstGeom>
          <a:solidFill>
            <a:schemeClr val="tx2"/>
          </a:solidFill>
          <a:ln w="12700">
            <a:solidFill>
              <a:schemeClr val="tx2"/>
            </a:solidFill>
            <a:prstDash val="solid"/>
          </a:ln>
        </p:spPr>
      </p:sp>
      <p:sp>
        <p:nvSpPr>
          <p:cNvPr id="21" name="Shape 19"/>
          <p:cNvSpPr/>
          <p:nvPr/>
        </p:nvSpPr>
        <p:spPr>
          <a:xfrm>
            <a:off x="7338060" y="1554480"/>
            <a:ext cx="2011680" cy="31089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22" name="Shape 20"/>
          <p:cNvSpPr/>
          <p:nvPr/>
        </p:nvSpPr>
        <p:spPr>
          <a:xfrm>
            <a:off x="7520940" y="1783080"/>
            <a:ext cx="914400" cy="310896"/>
          </a:xfrm>
          <a:prstGeom prst="roundRect">
            <a:avLst>
              <a:gd name="adj" fmla="val 17647"/>
            </a:avLst>
          </a:prstGeom>
          <a:solidFill>
            <a:schemeClr val="tx2"/>
          </a:solidFill>
          <a:ln w="12700">
            <a:solidFill>
              <a:schemeClr val="tx2"/>
            </a:solidFill>
            <a:prstDash val="solid"/>
          </a:ln>
        </p:spPr>
      </p:sp>
      <p:sp>
        <p:nvSpPr>
          <p:cNvPr id="23" name="Text 21"/>
          <p:cNvSpPr txBox="1"/>
          <p:nvPr/>
        </p:nvSpPr>
        <p:spPr>
          <a:xfrm>
            <a:off x="7520940" y="178308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CODE</a:t>
            </a:r>
            <a:endParaRPr lang="en-US" sz="1100" dirty="0"/>
          </a:p>
        </p:txBody>
      </p:sp>
      <p:sp>
        <p:nvSpPr>
          <p:cNvPr id="24" name="Text 22"/>
          <p:cNvSpPr txBox="1"/>
          <p:nvPr/>
        </p:nvSpPr>
        <p:spPr>
          <a:xfrm>
            <a:off x="7520940" y="2331720"/>
            <a:ext cx="1691640" cy="457200"/>
          </a:xfrm>
          <a:prstGeom prst="rect">
            <a:avLst/>
          </a:prstGeom>
          <a:noFill/>
          <a:ln/>
        </p:spPr>
        <p:txBody>
          <a:bodyPr wrap="square" lIns="0" tIns="0" rIns="0" bIns="0" rtlCol="0" anchor="t"/>
          <a:lstStyle/>
          <a:p>
            <a:pPr indent="0" marL="0">
              <a:buNone/>
            </a:pPr>
            <a:r>
              <a:rPr lang="en-US" sz="2000" b="1" dirty="0">
                <a:solidFill>
                  <a:schemeClr val="tx1"/>
                </a:solidFill>
              </a:rPr>
              <a:t>4  Verify</a:t>
            </a:r>
            <a:endParaRPr lang="en-US" sz="2000" dirty="0"/>
          </a:p>
        </p:txBody>
      </p:sp>
      <p:sp>
        <p:nvSpPr>
          <p:cNvPr id="25" name="Text 23"/>
          <p:cNvSpPr txBox="1"/>
          <p:nvPr/>
        </p:nvSpPr>
        <p:spPr>
          <a:xfrm>
            <a:off x="7520940" y="2880360"/>
            <a:ext cx="1691640" cy="1645920"/>
          </a:xfrm>
          <a:prstGeom prst="rect">
            <a:avLst/>
          </a:prstGeom>
          <a:noFill/>
          <a:ln/>
        </p:spPr>
        <p:txBody>
          <a:bodyPr wrap="square" lIns="0" tIns="0" rIns="0" bIns="0" rtlCol="0" anchor="t"/>
          <a:lstStyle/>
          <a:p>
            <a:pPr indent="0" marL="0">
              <a:buNone/>
            </a:pPr>
            <a:r>
              <a:rPr lang="en-US" sz="1400" dirty="0">
                <a:solidFill>
                  <a:schemeClr val="tx2"/>
                </a:solidFill>
              </a:rPr>
              <a:t>The quote must appear word for word in the note. If not, the flag is dropped.</a:t>
            </a:r>
            <a:endParaRPr lang="en-US" sz="1400" dirty="0"/>
          </a:p>
        </p:txBody>
      </p:sp>
      <p:sp>
        <p:nvSpPr>
          <p:cNvPr id="26" name="Shape 24"/>
          <p:cNvSpPr/>
          <p:nvPr/>
        </p:nvSpPr>
        <p:spPr>
          <a:xfrm>
            <a:off x="9377172" y="2926080"/>
            <a:ext cx="201168" cy="274320"/>
          </a:xfrm>
          <a:prstGeom prst="rightArrow">
            <a:avLst/>
          </a:prstGeom>
          <a:solidFill>
            <a:schemeClr val="tx2"/>
          </a:solidFill>
          <a:ln w="12700">
            <a:solidFill>
              <a:schemeClr val="tx2"/>
            </a:solidFill>
            <a:prstDash val="solid"/>
          </a:ln>
        </p:spPr>
      </p:sp>
      <p:sp>
        <p:nvSpPr>
          <p:cNvPr id="27" name="Shape 25"/>
          <p:cNvSpPr/>
          <p:nvPr/>
        </p:nvSpPr>
        <p:spPr>
          <a:xfrm>
            <a:off x="9601200" y="1554480"/>
            <a:ext cx="2011680" cy="31089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28" name="Shape 26"/>
          <p:cNvSpPr/>
          <p:nvPr/>
        </p:nvSpPr>
        <p:spPr>
          <a:xfrm>
            <a:off x="9784080" y="1783080"/>
            <a:ext cx="914400" cy="310896"/>
          </a:xfrm>
          <a:prstGeom prst="roundRect">
            <a:avLst>
              <a:gd name="adj" fmla="val 17647"/>
            </a:avLst>
          </a:prstGeom>
          <a:solidFill>
            <a:schemeClr val="accent1"/>
          </a:solidFill>
          <a:ln w="12700">
            <a:solidFill>
              <a:schemeClr val="accent1"/>
            </a:solidFill>
            <a:prstDash val="solid"/>
          </a:ln>
        </p:spPr>
      </p:sp>
      <p:sp>
        <p:nvSpPr>
          <p:cNvPr id="29" name="Text 27"/>
          <p:cNvSpPr txBox="1"/>
          <p:nvPr/>
        </p:nvSpPr>
        <p:spPr>
          <a:xfrm>
            <a:off x="9784080" y="178308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PEOPLE</a:t>
            </a:r>
            <a:endParaRPr lang="en-US" sz="1100" dirty="0"/>
          </a:p>
        </p:txBody>
      </p:sp>
      <p:sp>
        <p:nvSpPr>
          <p:cNvPr id="30" name="Text 28"/>
          <p:cNvSpPr txBox="1"/>
          <p:nvPr/>
        </p:nvSpPr>
        <p:spPr>
          <a:xfrm>
            <a:off x="9784080" y="2331720"/>
            <a:ext cx="1691640" cy="457200"/>
          </a:xfrm>
          <a:prstGeom prst="rect">
            <a:avLst/>
          </a:prstGeom>
          <a:noFill/>
          <a:ln/>
        </p:spPr>
        <p:txBody>
          <a:bodyPr wrap="square" lIns="0" tIns="0" rIns="0" bIns="0" rtlCol="0" anchor="t"/>
          <a:lstStyle/>
          <a:p>
            <a:pPr indent="0" marL="0">
              <a:buNone/>
            </a:pPr>
            <a:r>
              <a:rPr lang="en-US" sz="2000" b="1" dirty="0">
                <a:solidFill>
                  <a:schemeClr val="tx1"/>
                </a:solidFill>
              </a:rPr>
              <a:t>5  Decide</a:t>
            </a:r>
            <a:endParaRPr lang="en-US" sz="2000" dirty="0"/>
          </a:p>
        </p:txBody>
      </p:sp>
      <p:sp>
        <p:nvSpPr>
          <p:cNvPr id="31" name="Text 29"/>
          <p:cNvSpPr txBox="1"/>
          <p:nvPr/>
        </p:nvSpPr>
        <p:spPr>
          <a:xfrm>
            <a:off x="9784080" y="2880360"/>
            <a:ext cx="1691640" cy="1645920"/>
          </a:xfrm>
          <a:prstGeom prst="rect">
            <a:avLst/>
          </a:prstGeom>
          <a:noFill/>
          <a:ln/>
        </p:spPr>
        <p:txBody>
          <a:bodyPr wrap="square" lIns="0" tIns="0" rIns="0" bIns="0" rtlCol="0" anchor="t"/>
          <a:lstStyle/>
          <a:p>
            <a:pPr indent="0" marL="0">
              <a:buNone/>
            </a:pPr>
            <a:r>
              <a:rPr lang="en-US" sz="1400" dirty="0">
                <a:solidFill>
                  <a:schemeClr val="tx2"/>
                </a:solidFill>
              </a:rPr>
              <a:t>Heat strip, evidence, review queue. A person approves or rejects every flag.</a:t>
            </a:r>
            <a:endParaRPr lang="en-US" sz="1400" dirty="0"/>
          </a:p>
        </p:txBody>
      </p:sp>
      <p:sp>
        <p:nvSpPr>
          <p:cNvPr id="32" name="Shape 30"/>
          <p:cNvSpPr/>
          <p:nvPr/>
        </p:nvSpPr>
        <p:spPr>
          <a:xfrm>
            <a:off x="548640" y="4937760"/>
            <a:ext cx="1554480" cy="411480"/>
          </a:xfrm>
          <a:prstGeom prst="roundRect">
            <a:avLst>
              <a:gd name="adj" fmla="val 17778"/>
            </a:avLst>
          </a:prstGeom>
          <a:solidFill>
            <a:schemeClr val="bg1"/>
          </a:solidFill>
          <a:ln w="19050">
            <a:solidFill>
              <a:schemeClr val="tx1"/>
            </a:solidFill>
            <a:prstDash val="solid"/>
          </a:ln>
        </p:spPr>
      </p:sp>
      <p:sp>
        <p:nvSpPr>
          <p:cNvPr id="33" name="Text 31"/>
          <p:cNvSpPr txBox="1"/>
          <p:nvPr/>
        </p:nvSpPr>
        <p:spPr>
          <a:xfrm>
            <a:off x="548640" y="4937760"/>
            <a:ext cx="1554480" cy="411480"/>
          </a:xfrm>
          <a:prstGeom prst="rect">
            <a:avLst/>
          </a:prstGeom>
          <a:noFill/>
          <a:ln/>
        </p:spPr>
        <p:txBody>
          <a:bodyPr wrap="square" lIns="0" tIns="0" rIns="0" bIns="0" rtlCol="0" anchor="ctr"/>
          <a:lstStyle/>
          <a:p>
            <a:pPr algn="ctr" indent="0" marL="0">
              <a:buNone/>
            </a:pPr>
            <a:r>
              <a:rPr lang="en-US" sz="1300" b="1" dirty="0">
                <a:solidFill>
                  <a:schemeClr val="tx1"/>
                </a:solidFill>
              </a:rPr>
              <a:t>Skipped step</a:t>
            </a:r>
            <a:endParaRPr lang="en-US" sz="1300" dirty="0"/>
          </a:p>
        </p:txBody>
      </p:sp>
      <p:sp>
        <p:nvSpPr>
          <p:cNvPr id="34" name="Shape 32"/>
          <p:cNvSpPr/>
          <p:nvPr/>
        </p:nvSpPr>
        <p:spPr>
          <a:xfrm>
            <a:off x="2212848" y="4937760"/>
            <a:ext cx="1920240" cy="411480"/>
          </a:xfrm>
          <a:prstGeom prst="roundRect">
            <a:avLst>
              <a:gd name="adj" fmla="val 17778"/>
            </a:avLst>
          </a:prstGeom>
          <a:solidFill>
            <a:schemeClr val="bg1"/>
          </a:solidFill>
          <a:ln w="19050">
            <a:solidFill>
              <a:schemeClr val="tx1"/>
            </a:solidFill>
            <a:prstDash val="solid"/>
          </a:ln>
        </p:spPr>
      </p:sp>
      <p:sp>
        <p:nvSpPr>
          <p:cNvPr id="35" name="Text 33"/>
          <p:cNvSpPr txBox="1"/>
          <p:nvPr/>
        </p:nvSpPr>
        <p:spPr>
          <a:xfrm>
            <a:off x="2212848" y="4937760"/>
            <a:ext cx="1920240" cy="411480"/>
          </a:xfrm>
          <a:prstGeom prst="rect">
            <a:avLst/>
          </a:prstGeom>
          <a:noFill/>
          <a:ln/>
        </p:spPr>
        <p:txBody>
          <a:bodyPr wrap="square" lIns="0" tIns="0" rIns="0" bIns="0" rtlCol="0" anchor="ctr"/>
          <a:lstStyle/>
          <a:p>
            <a:pPr algn="ctr" indent="0" marL="0">
              <a:buNone/>
            </a:pPr>
            <a:r>
              <a:rPr lang="en-US" sz="1300" b="1" dirty="0">
                <a:solidFill>
                  <a:schemeClr val="tx1"/>
                </a:solidFill>
              </a:rPr>
              <a:t>Reordered steps</a:t>
            </a:r>
            <a:endParaRPr lang="en-US" sz="1300" dirty="0"/>
          </a:p>
        </p:txBody>
      </p:sp>
      <p:sp>
        <p:nvSpPr>
          <p:cNvPr id="36" name="Shape 34"/>
          <p:cNvSpPr/>
          <p:nvPr/>
        </p:nvSpPr>
        <p:spPr>
          <a:xfrm>
            <a:off x="4242816" y="4937760"/>
            <a:ext cx="2651760" cy="411480"/>
          </a:xfrm>
          <a:prstGeom prst="roundRect">
            <a:avLst>
              <a:gd name="adj" fmla="val 17778"/>
            </a:avLst>
          </a:prstGeom>
          <a:solidFill>
            <a:schemeClr val="bg1"/>
          </a:solidFill>
          <a:ln w="19050">
            <a:solidFill>
              <a:schemeClr val="tx1"/>
            </a:solidFill>
            <a:prstDash val="solid"/>
          </a:ln>
        </p:spPr>
      </p:sp>
      <p:sp>
        <p:nvSpPr>
          <p:cNvPr id="37" name="Text 35"/>
          <p:cNvSpPr txBox="1"/>
          <p:nvPr/>
        </p:nvSpPr>
        <p:spPr>
          <a:xfrm>
            <a:off x="4242816" y="4937760"/>
            <a:ext cx="2651760" cy="411480"/>
          </a:xfrm>
          <a:prstGeom prst="rect">
            <a:avLst/>
          </a:prstGeom>
          <a:noFill/>
          <a:ln/>
        </p:spPr>
        <p:txBody>
          <a:bodyPr wrap="square" lIns="0" tIns="0" rIns="0" bIns="0" rtlCol="0" anchor="ctr"/>
          <a:lstStyle/>
          <a:p>
            <a:pPr algn="ctr" indent="0" marL="0">
              <a:buNone/>
            </a:pPr>
            <a:r>
              <a:rPr lang="en-US" sz="1300" b="1" dirty="0">
                <a:solidFill>
                  <a:schemeClr val="tx1"/>
                </a:solidFill>
              </a:rPr>
              <a:t>Workaround or substitution</a:t>
            </a:r>
            <a:endParaRPr lang="en-US" sz="1300" dirty="0"/>
          </a:p>
        </p:txBody>
      </p:sp>
      <p:sp>
        <p:nvSpPr>
          <p:cNvPr id="38" name="Shape 36"/>
          <p:cNvSpPr/>
          <p:nvPr/>
        </p:nvSpPr>
        <p:spPr>
          <a:xfrm>
            <a:off x="7004304" y="4937760"/>
            <a:ext cx="2834640" cy="411480"/>
          </a:xfrm>
          <a:prstGeom prst="roundRect">
            <a:avLst>
              <a:gd name="adj" fmla="val 17778"/>
            </a:avLst>
          </a:prstGeom>
          <a:solidFill>
            <a:schemeClr val="bg1"/>
          </a:solidFill>
          <a:ln w="19050">
            <a:solidFill>
              <a:schemeClr val="tx1"/>
            </a:solidFill>
            <a:prstDash val="solid"/>
          </a:ln>
        </p:spPr>
      </p:sp>
      <p:sp>
        <p:nvSpPr>
          <p:cNvPr id="39" name="Text 37"/>
          <p:cNvSpPr txBox="1"/>
          <p:nvPr/>
        </p:nvSpPr>
        <p:spPr>
          <a:xfrm>
            <a:off x="7004304" y="4937760"/>
            <a:ext cx="2834640" cy="411480"/>
          </a:xfrm>
          <a:prstGeom prst="rect">
            <a:avLst/>
          </a:prstGeom>
          <a:noFill/>
          <a:ln/>
        </p:spPr>
        <p:txBody>
          <a:bodyPr wrap="square" lIns="0" tIns="0" rIns="0" bIns="0" rtlCol="0" anchor="ctr"/>
          <a:lstStyle/>
          <a:p>
            <a:pPr algn="ctr" indent="0" marL="0">
              <a:buNone/>
            </a:pPr>
            <a:r>
              <a:rPr lang="en-US" sz="1300" b="1" dirty="0">
                <a:solidFill>
                  <a:schemeClr val="tx1"/>
                </a:solidFill>
              </a:rPr>
              <a:t>SOP outdated or impractical</a:t>
            </a:r>
            <a:endParaRPr lang="en-US" sz="1300" dirty="0"/>
          </a:p>
        </p:txBody>
      </p:sp>
      <p:sp>
        <p:nvSpPr>
          <p:cNvPr id="40" name="Shape 38"/>
          <p:cNvSpPr/>
          <p:nvPr/>
        </p:nvSpPr>
        <p:spPr>
          <a:xfrm>
            <a:off x="9948672" y="4937760"/>
            <a:ext cx="1554480" cy="411480"/>
          </a:xfrm>
          <a:prstGeom prst="roundRect">
            <a:avLst>
              <a:gd name="adj" fmla="val 17778"/>
            </a:avLst>
          </a:prstGeom>
          <a:solidFill>
            <a:schemeClr val="bg1"/>
          </a:solidFill>
          <a:ln w="19050">
            <a:solidFill>
              <a:schemeClr val="tx1"/>
            </a:solidFill>
            <a:prstDash val="solid"/>
          </a:ln>
        </p:spPr>
      </p:sp>
      <p:sp>
        <p:nvSpPr>
          <p:cNvPr id="41" name="Text 39"/>
          <p:cNvSpPr txBox="1"/>
          <p:nvPr/>
        </p:nvSpPr>
        <p:spPr>
          <a:xfrm>
            <a:off x="9948672" y="4937760"/>
            <a:ext cx="1554480" cy="411480"/>
          </a:xfrm>
          <a:prstGeom prst="rect">
            <a:avLst/>
          </a:prstGeom>
          <a:noFill/>
          <a:ln/>
        </p:spPr>
        <p:txBody>
          <a:bodyPr wrap="square" lIns="0" tIns="0" rIns="0" bIns="0" rtlCol="0" anchor="ctr"/>
          <a:lstStyle/>
          <a:p>
            <a:pPr algn="ctr" indent="0" marL="0">
              <a:buNone/>
            </a:pPr>
            <a:r>
              <a:rPr lang="en-US" sz="1300" b="1" dirty="0">
                <a:solidFill>
                  <a:schemeClr val="tx1"/>
                </a:solidFill>
              </a:rPr>
              <a:t>SOP unclear</a:t>
            </a:r>
            <a:endParaRPr lang="en-US" sz="1300" dirty="0"/>
          </a:p>
        </p:txBody>
      </p:sp>
      <p:sp>
        <p:nvSpPr>
          <p:cNvPr id="42" name="Text 40"/>
          <p:cNvSpPr txBox="1"/>
          <p:nvPr/>
        </p:nvSpPr>
        <p:spPr>
          <a:xfrm>
            <a:off x="548640" y="5715000"/>
            <a:ext cx="3566160" cy="548640"/>
          </a:xfrm>
          <a:prstGeom prst="rect">
            <a:avLst/>
          </a:prstGeom>
          <a:noFill/>
          <a:ln/>
        </p:spPr>
        <p:txBody>
          <a:bodyPr wrap="square" lIns="0" tIns="0" rIns="0" bIns="0" rtlCol="0" anchor="t"/>
          <a:lstStyle/>
          <a:p>
            <a:pPr indent="0" marL="0">
              <a:buNone/>
            </a:pPr>
            <a:r>
              <a:rPr lang="en-US" sz="1400" dirty="0">
                <a:solidFill>
                  <a:schemeClr val="tx2"/>
                </a:solidFill>
              </a:rPr>
              <a:t>Flag only what a note says: silence is not evidence.</a:t>
            </a:r>
            <a:endParaRPr lang="en-US" sz="1400" dirty="0"/>
          </a:p>
        </p:txBody>
      </p:sp>
      <p:sp>
        <p:nvSpPr>
          <p:cNvPr id="43" name="Text 41"/>
          <p:cNvSpPr txBox="1"/>
          <p:nvPr/>
        </p:nvSpPr>
        <p:spPr>
          <a:xfrm>
            <a:off x="4297680" y="5715000"/>
            <a:ext cx="3566160" cy="548640"/>
          </a:xfrm>
          <a:prstGeom prst="rect">
            <a:avLst/>
          </a:prstGeom>
          <a:noFill/>
          <a:ln/>
        </p:spPr>
        <p:txBody>
          <a:bodyPr wrap="square" lIns="0" tIns="0" rIns="0" bIns="0" rtlCol="0" anchor="t"/>
          <a:lstStyle/>
          <a:p>
            <a:pPr indent="0" marL="0">
              <a:buNone/>
            </a:pPr>
            <a:r>
              <a:rPr lang="en-US" sz="1400" dirty="0">
                <a:solidFill>
                  <a:schemeClr val="tx2"/>
                </a:solidFill>
              </a:rPr>
              <a:t>Report on steps and shifts, never on people.</a:t>
            </a:r>
            <a:endParaRPr lang="en-US" sz="1400" dirty="0"/>
          </a:p>
        </p:txBody>
      </p:sp>
      <p:sp>
        <p:nvSpPr>
          <p:cNvPr id="44" name="Text 42"/>
          <p:cNvSpPr txBox="1"/>
          <p:nvPr/>
        </p:nvSpPr>
        <p:spPr>
          <a:xfrm>
            <a:off x="8046720" y="5715000"/>
            <a:ext cx="3566160" cy="548640"/>
          </a:xfrm>
          <a:prstGeom prst="rect">
            <a:avLst/>
          </a:prstGeom>
          <a:noFill/>
          <a:ln/>
        </p:spPr>
        <p:txBody>
          <a:bodyPr wrap="square" lIns="0" tIns="0" rIns="0" bIns="0" rtlCol="0" anchor="t"/>
          <a:lstStyle/>
          <a:p>
            <a:pPr indent="0" marL="0">
              <a:buNone/>
            </a:pPr>
            <a:r>
              <a:rPr lang="en-US" sz="1400" dirty="0">
                <a:solidFill>
                  <a:schemeClr val="tx2"/>
                </a:solidFill>
              </a:rPr>
              <a:t>Every flag needs a human decision.</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3800" b="1" dirty="0">
                <a:solidFill>
                  <a:schemeClr val="tx1"/>
                </a:solidFill>
              </a:rPr>
              <a:t>What the safety manager sees</a:t>
            </a:r>
            <a:endParaRPr lang="en-US" sz="3800" dirty="0"/>
          </a:p>
        </p:txBody>
      </p:sp>
      <p:sp>
        <p:nvSpPr>
          <p:cNvPr id="3" name="Shape 1"/>
          <p:cNvSpPr/>
          <p:nvPr/>
        </p:nvSpPr>
        <p:spPr>
          <a:xfrm>
            <a:off x="548640" y="1508760"/>
            <a:ext cx="3474720" cy="434340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4" name="Shape 2"/>
          <p:cNvSpPr/>
          <p:nvPr/>
        </p:nvSpPr>
        <p:spPr>
          <a:xfrm>
            <a:off x="4357116" y="1508760"/>
            <a:ext cx="3474720" cy="434340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5" name="Shape 3"/>
          <p:cNvSpPr/>
          <p:nvPr/>
        </p:nvSpPr>
        <p:spPr>
          <a:xfrm>
            <a:off x="8165592" y="1508760"/>
            <a:ext cx="3474720" cy="434340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6" name="Shape 4"/>
          <p:cNvSpPr/>
          <p:nvPr/>
        </p:nvSpPr>
        <p:spPr>
          <a:xfrm>
            <a:off x="914400" y="1920240"/>
            <a:ext cx="384048" cy="384048"/>
          </a:xfrm>
          <a:prstGeom prst="rect">
            <a:avLst/>
          </a:prstGeom>
          <a:solidFill>
            <a:srgbClr val="DCE3E6"/>
          </a:solidFill>
          <a:ln w="12700">
            <a:solidFill>
              <a:srgbClr val="DCE3E6"/>
            </a:solidFill>
            <a:prstDash val="solid"/>
          </a:ln>
        </p:spPr>
      </p:sp>
      <p:sp>
        <p:nvSpPr>
          <p:cNvPr id="7" name="Shape 5"/>
          <p:cNvSpPr/>
          <p:nvPr/>
        </p:nvSpPr>
        <p:spPr>
          <a:xfrm>
            <a:off x="1353312" y="1920240"/>
            <a:ext cx="384048" cy="384048"/>
          </a:xfrm>
          <a:prstGeom prst="rect">
            <a:avLst/>
          </a:prstGeom>
          <a:solidFill>
            <a:srgbClr val="9AA8B3"/>
          </a:solidFill>
          <a:ln w="12700">
            <a:solidFill>
              <a:srgbClr val="9AA8B3"/>
            </a:solidFill>
            <a:prstDash val="solid"/>
          </a:ln>
        </p:spPr>
      </p:sp>
      <p:sp>
        <p:nvSpPr>
          <p:cNvPr id="8" name="Shape 6"/>
          <p:cNvSpPr/>
          <p:nvPr/>
        </p:nvSpPr>
        <p:spPr>
          <a:xfrm>
            <a:off x="1792224" y="1920240"/>
            <a:ext cx="384048" cy="384048"/>
          </a:xfrm>
          <a:prstGeom prst="rect">
            <a:avLst/>
          </a:prstGeom>
          <a:solidFill>
            <a:srgbClr val="DCE3E6"/>
          </a:solidFill>
          <a:ln w="12700">
            <a:solidFill>
              <a:srgbClr val="DCE3E6"/>
            </a:solidFill>
            <a:prstDash val="solid"/>
          </a:ln>
        </p:spPr>
      </p:sp>
      <p:sp>
        <p:nvSpPr>
          <p:cNvPr id="9" name="Shape 7"/>
          <p:cNvSpPr/>
          <p:nvPr/>
        </p:nvSpPr>
        <p:spPr>
          <a:xfrm>
            <a:off x="2231136" y="1920240"/>
            <a:ext cx="384048" cy="384048"/>
          </a:xfrm>
          <a:prstGeom prst="rect">
            <a:avLst/>
          </a:prstGeom>
          <a:solidFill>
            <a:srgbClr val="DCE3E6"/>
          </a:solidFill>
          <a:ln w="12700">
            <a:solidFill>
              <a:srgbClr val="DCE3E6"/>
            </a:solidFill>
            <a:prstDash val="solid"/>
          </a:ln>
        </p:spPr>
      </p:sp>
      <p:sp>
        <p:nvSpPr>
          <p:cNvPr id="10" name="Shape 8"/>
          <p:cNvSpPr/>
          <p:nvPr/>
        </p:nvSpPr>
        <p:spPr>
          <a:xfrm>
            <a:off x="2670048" y="1920240"/>
            <a:ext cx="384048" cy="384048"/>
          </a:xfrm>
          <a:prstGeom prst="rect">
            <a:avLst/>
          </a:prstGeom>
          <a:solidFill>
            <a:srgbClr val="5E7080"/>
          </a:solidFill>
          <a:ln w="12700">
            <a:solidFill>
              <a:srgbClr val="5E7080"/>
            </a:solidFill>
            <a:prstDash val="solid"/>
          </a:ln>
        </p:spPr>
      </p:sp>
      <p:sp>
        <p:nvSpPr>
          <p:cNvPr id="11" name="Shape 9"/>
          <p:cNvSpPr/>
          <p:nvPr/>
        </p:nvSpPr>
        <p:spPr>
          <a:xfrm>
            <a:off x="3108960" y="1920240"/>
            <a:ext cx="384048" cy="384048"/>
          </a:xfrm>
          <a:prstGeom prst="rect">
            <a:avLst/>
          </a:prstGeom>
          <a:solidFill>
            <a:srgbClr val="9AA8B3"/>
          </a:solidFill>
          <a:ln w="12700">
            <a:solidFill>
              <a:srgbClr val="9AA8B3"/>
            </a:solidFill>
            <a:prstDash val="solid"/>
          </a:ln>
        </p:spPr>
      </p:sp>
      <p:sp>
        <p:nvSpPr>
          <p:cNvPr id="12" name="Shape 10"/>
          <p:cNvSpPr/>
          <p:nvPr/>
        </p:nvSpPr>
        <p:spPr>
          <a:xfrm>
            <a:off x="914400" y="2359152"/>
            <a:ext cx="384048" cy="384048"/>
          </a:xfrm>
          <a:prstGeom prst="rect">
            <a:avLst/>
          </a:prstGeom>
          <a:solidFill>
            <a:srgbClr val="DCE3E6"/>
          </a:solidFill>
          <a:ln w="12700">
            <a:solidFill>
              <a:srgbClr val="DCE3E6"/>
            </a:solidFill>
            <a:prstDash val="solid"/>
          </a:ln>
        </p:spPr>
      </p:sp>
      <p:sp>
        <p:nvSpPr>
          <p:cNvPr id="13" name="Shape 11"/>
          <p:cNvSpPr/>
          <p:nvPr/>
        </p:nvSpPr>
        <p:spPr>
          <a:xfrm>
            <a:off x="1353312" y="2359152"/>
            <a:ext cx="384048" cy="384048"/>
          </a:xfrm>
          <a:prstGeom prst="rect">
            <a:avLst/>
          </a:prstGeom>
          <a:solidFill>
            <a:srgbClr val="DCE3E6"/>
          </a:solidFill>
          <a:ln w="12700">
            <a:solidFill>
              <a:srgbClr val="DCE3E6"/>
            </a:solidFill>
            <a:prstDash val="solid"/>
          </a:ln>
        </p:spPr>
      </p:sp>
      <p:sp>
        <p:nvSpPr>
          <p:cNvPr id="14" name="Shape 12"/>
          <p:cNvSpPr/>
          <p:nvPr/>
        </p:nvSpPr>
        <p:spPr>
          <a:xfrm>
            <a:off x="1792224" y="2359152"/>
            <a:ext cx="384048" cy="384048"/>
          </a:xfrm>
          <a:prstGeom prst="rect">
            <a:avLst/>
          </a:prstGeom>
          <a:solidFill>
            <a:srgbClr val="DCE3E6"/>
          </a:solidFill>
          <a:ln w="12700">
            <a:solidFill>
              <a:srgbClr val="DCE3E6"/>
            </a:solidFill>
            <a:prstDash val="solid"/>
          </a:ln>
        </p:spPr>
      </p:sp>
      <p:sp>
        <p:nvSpPr>
          <p:cNvPr id="15" name="Shape 13"/>
          <p:cNvSpPr/>
          <p:nvPr/>
        </p:nvSpPr>
        <p:spPr>
          <a:xfrm>
            <a:off x="2231136" y="2359152"/>
            <a:ext cx="384048" cy="384048"/>
          </a:xfrm>
          <a:prstGeom prst="rect">
            <a:avLst/>
          </a:prstGeom>
          <a:solidFill>
            <a:srgbClr val="9AA8B3"/>
          </a:solidFill>
          <a:ln w="12700">
            <a:solidFill>
              <a:srgbClr val="9AA8B3"/>
            </a:solidFill>
            <a:prstDash val="solid"/>
          </a:ln>
        </p:spPr>
      </p:sp>
      <p:sp>
        <p:nvSpPr>
          <p:cNvPr id="16" name="Shape 14"/>
          <p:cNvSpPr/>
          <p:nvPr/>
        </p:nvSpPr>
        <p:spPr>
          <a:xfrm>
            <a:off x="2670048" y="2359152"/>
            <a:ext cx="384048" cy="384048"/>
          </a:xfrm>
          <a:prstGeom prst="rect">
            <a:avLst/>
          </a:prstGeom>
          <a:solidFill>
            <a:srgbClr val="DCE3E6"/>
          </a:solidFill>
          <a:ln w="12700">
            <a:solidFill>
              <a:srgbClr val="DCE3E6"/>
            </a:solidFill>
            <a:prstDash val="solid"/>
          </a:ln>
        </p:spPr>
      </p:sp>
      <p:sp>
        <p:nvSpPr>
          <p:cNvPr id="17" name="Shape 15"/>
          <p:cNvSpPr/>
          <p:nvPr/>
        </p:nvSpPr>
        <p:spPr>
          <a:xfrm>
            <a:off x="3108960" y="2359152"/>
            <a:ext cx="384048" cy="384048"/>
          </a:xfrm>
          <a:prstGeom prst="rect">
            <a:avLst/>
          </a:prstGeom>
          <a:solidFill>
            <a:srgbClr val="DCE3E6"/>
          </a:solidFill>
          <a:ln w="12700">
            <a:solidFill>
              <a:srgbClr val="DCE3E6"/>
            </a:solidFill>
            <a:prstDash val="solid"/>
          </a:ln>
        </p:spPr>
      </p:sp>
      <p:sp>
        <p:nvSpPr>
          <p:cNvPr id="18" name="Shape 16"/>
          <p:cNvSpPr/>
          <p:nvPr/>
        </p:nvSpPr>
        <p:spPr>
          <a:xfrm>
            <a:off x="914400" y="2798064"/>
            <a:ext cx="384048" cy="384048"/>
          </a:xfrm>
          <a:prstGeom prst="rect">
            <a:avLst/>
          </a:prstGeom>
          <a:solidFill>
            <a:srgbClr val="9AA8B3"/>
          </a:solidFill>
          <a:ln w="12700">
            <a:solidFill>
              <a:srgbClr val="9AA8B3"/>
            </a:solidFill>
            <a:prstDash val="solid"/>
          </a:ln>
        </p:spPr>
      </p:sp>
      <p:sp>
        <p:nvSpPr>
          <p:cNvPr id="19" name="Shape 17"/>
          <p:cNvSpPr/>
          <p:nvPr/>
        </p:nvSpPr>
        <p:spPr>
          <a:xfrm>
            <a:off x="1353312" y="2798064"/>
            <a:ext cx="384048" cy="384048"/>
          </a:xfrm>
          <a:prstGeom prst="rect">
            <a:avLst/>
          </a:prstGeom>
          <a:solidFill>
            <a:srgbClr val="5E7080"/>
          </a:solidFill>
          <a:ln w="12700">
            <a:solidFill>
              <a:srgbClr val="5E7080"/>
            </a:solidFill>
            <a:prstDash val="solid"/>
          </a:ln>
        </p:spPr>
      </p:sp>
      <p:sp>
        <p:nvSpPr>
          <p:cNvPr id="20" name="Shape 18"/>
          <p:cNvSpPr/>
          <p:nvPr/>
        </p:nvSpPr>
        <p:spPr>
          <a:xfrm>
            <a:off x="1792224" y="2798064"/>
            <a:ext cx="384048" cy="384048"/>
          </a:xfrm>
          <a:prstGeom prst="rect">
            <a:avLst/>
          </a:prstGeom>
          <a:solidFill>
            <a:srgbClr val="34495A"/>
          </a:solidFill>
          <a:ln w="12700">
            <a:solidFill>
              <a:srgbClr val="34495A"/>
            </a:solidFill>
            <a:prstDash val="solid"/>
          </a:ln>
        </p:spPr>
      </p:sp>
      <p:sp>
        <p:nvSpPr>
          <p:cNvPr id="21" name="Shape 19"/>
          <p:cNvSpPr/>
          <p:nvPr/>
        </p:nvSpPr>
        <p:spPr>
          <a:xfrm>
            <a:off x="2231136" y="2798064"/>
            <a:ext cx="384048" cy="384048"/>
          </a:xfrm>
          <a:prstGeom prst="rect">
            <a:avLst/>
          </a:prstGeom>
          <a:solidFill>
            <a:srgbClr val="34495A"/>
          </a:solidFill>
          <a:ln w="12700">
            <a:solidFill>
              <a:srgbClr val="34495A"/>
            </a:solidFill>
            <a:prstDash val="solid"/>
          </a:ln>
        </p:spPr>
      </p:sp>
      <p:sp>
        <p:nvSpPr>
          <p:cNvPr id="22" name="Shape 20"/>
          <p:cNvSpPr/>
          <p:nvPr/>
        </p:nvSpPr>
        <p:spPr>
          <a:xfrm>
            <a:off x="2670048" y="2798064"/>
            <a:ext cx="384048" cy="384048"/>
          </a:xfrm>
          <a:prstGeom prst="rect">
            <a:avLst/>
          </a:prstGeom>
          <a:solidFill>
            <a:srgbClr val="12222F"/>
          </a:solidFill>
          <a:ln w="38100">
            <a:solidFill>
              <a:schemeClr val="accent1"/>
            </a:solidFill>
            <a:prstDash val="solid"/>
          </a:ln>
        </p:spPr>
      </p:sp>
      <p:sp>
        <p:nvSpPr>
          <p:cNvPr id="23" name="Shape 21"/>
          <p:cNvSpPr/>
          <p:nvPr/>
        </p:nvSpPr>
        <p:spPr>
          <a:xfrm>
            <a:off x="3108960" y="2798064"/>
            <a:ext cx="384048" cy="384048"/>
          </a:xfrm>
          <a:prstGeom prst="rect">
            <a:avLst/>
          </a:prstGeom>
          <a:solidFill>
            <a:srgbClr val="5E7080"/>
          </a:solidFill>
          <a:ln w="12700">
            <a:solidFill>
              <a:srgbClr val="5E7080"/>
            </a:solidFill>
            <a:prstDash val="solid"/>
          </a:ln>
        </p:spPr>
      </p:sp>
      <p:sp>
        <p:nvSpPr>
          <p:cNvPr id="24" name="Shape 22"/>
          <p:cNvSpPr/>
          <p:nvPr/>
        </p:nvSpPr>
        <p:spPr>
          <a:xfrm>
            <a:off x="914400" y="3236976"/>
            <a:ext cx="384048" cy="384048"/>
          </a:xfrm>
          <a:prstGeom prst="rect">
            <a:avLst/>
          </a:prstGeom>
          <a:solidFill>
            <a:srgbClr val="DCE3E6"/>
          </a:solidFill>
          <a:ln w="12700">
            <a:solidFill>
              <a:srgbClr val="DCE3E6"/>
            </a:solidFill>
            <a:prstDash val="solid"/>
          </a:ln>
        </p:spPr>
      </p:sp>
      <p:sp>
        <p:nvSpPr>
          <p:cNvPr id="25" name="Shape 23"/>
          <p:cNvSpPr/>
          <p:nvPr/>
        </p:nvSpPr>
        <p:spPr>
          <a:xfrm>
            <a:off x="1353312" y="3236976"/>
            <a:ext cx="384048" cy="384048"/>
          </a:xfrm>
          <a:prstGeom prst="rect">
            <a:avLst/>
          </a:prstGeom>
          <a:solidFill>
            <a:srgbClr val="DCE3E6"/>
          </a:solidFill>
          <a:ln w="12700">
            <a:solidFill>
              <a:srgbClr val="DCE3E6"/>
            </a:solidFill>
            <a:prstDash val="solid"/>
          </a:ln>
        </p:spPr>
      </p:sp>
      <p:sp>
        <p:nvSpPr>
          <p:cNvPr id="26" name="Shape 24"/>
          <p:cNvSpPr/>
          <p:nvPr/>
        </p:nvSpPr>
        <p:spPr>
          <a:xfrm>
            <a:off x="1792224" y="3236976"/>
            <a:ext cx="384048" cy="384048"/>
          </a:xfrm>
          <a:prstGeom prst="rect">
            <a:avLst/>
          </a:prstGeom>
          <a:solidFill>
            <a:srgbClr val="9AA8B3"/>
          </a:solidFill>
          <a:ln w="12700">
            <a:solidFill>
              <a:srgbClr val="9AA8B3"/>
            </a:solidFill>
            <a:prstDash val="solid"/>
          </a:ln>
        </p:spPr>
      </p:sp>
      <p:sp>
        <p:nvSpPr>
          <p:cNvPr id="27" name="Shape 25"/>
          <p:cNvSpPr/>
          <p:nvPr/>
        </p:nvSpPr>
        <p:spPr>
          <a:xfrm>
            <a:off x="2231136" y="3236976"/>
            <a:ext cx="384048" cy="384048"/>
          </a:xfrm>
          <a:prstGeom prst="rect">
            <a:avLst/>
          </a:prstGeom>
          <a:solidFill>
            <a:srgbClr val="DCE3E6"/>
          </a:solidFill>
          <a:ln w="12700">
            <a:solidFill>
              <a:srgbClr val="DCE3E6"/>
            </a:solidFill>
            <a:prstDash val="solid"/>
          </a:ln>
        </p:spPr>
      </p:sp>
      <p:sp>
        <p:nvSpPr>
          <p:cNvPr id="28" name="Shape 26"/>
          <p:cNvSpPr/>
          <p:nvPr/>
        </p:nvSpPr>
        <p:spPr>
          <a:xfrm>
            <a:off x="2670048" y="3236976"/>
            <a:ext cx="384048" cy="384048"/>
          </a:xfrm>
          <a:prstGeom prst="rect">
            <a:avLst/>
          </a:prstGeom>
          <a:solidFill>
            <a:srgbClr val="DCE3E6"/>
          </a:solidFill>
          <a:ln w="12700">
            <a:solidFill>
              <a:srgbClr val="DCE3E6"/>
            </a:solidFill>
            <a:prstDash val="solid"/>
          </a:ln>
        </p:spPr>
      </p:sp>
      <p:sp>
        <p:nvSpPr>
          <p:cNvPr id="29" name="Shape 27"/>
          <p:cNvSpPr/>
          <p:nvPr/>
        </p:nvSpPr>
        <p:spPr>
          <a:xfrm>
            <a:off x="3108960" y="3236976"/>
            <a:ext cx="384048" cy="384048"/>
          </a:xfrm>
          <a:prstGeom prst="rect">
            <a:avLst/>
          </a:prstGeom>
          <a:solidFill>
            <a:srgbClr val="9AA8B3"/>
          </a:solidFill>
          <a:ln w="12700">
            <a:solidFill>
              <a:srgbClr val="9AA8B3"/>
            </a:solidFill>
            <a:prstDash val="solid"/>
          </a:ln>
        </p:spPr>
      </p:sp>
      <p:sp>
        <p:nvSpPr>
          <p:cNvPr id="30" name="Shape 28"/>
          <p:cNvSpPr/>
          <p:nvPr/>
        </p:nvSpPr>
        <p:spPr>
          <a:xfrm>
            <a:off x="914400" y="3675888"/>
            <a:ext cx="384048" cy="384048"/>
          </a:xfrm>
          <a:prstGeom prst="rect">
            <a:avLst/>
          </a:prstGeom>
          <a:solidFill>
            <a:srgbClr val="DCE3E6"/>
          </a:solidFill>
          <a:ln w="12700">
            <a:solidFill>
              <a:srgbClr val="DCE3E6"/>
            </a:solidFill>
            <a:prstDash val="solid"/>
          </a:ln>
        </p:spPr>
      </p:sp>
      <p:sp>
        <p:nvSpPr>
          <p:cNvPr id="31" name="Shape 29"/>
          <p:cNvSpPr/>
          <p:nvPr/>
        </p:nvSpPr>
        <p:spPr>
          <a:xfrm>
            <a:off x="1353312" y="3675888"/>
            <a:ext cx="384048" cy="384048"/>
          </a:xfrm>
          <a:prstGeom prst="rect">
            <a:avLst/>
          </a:prstGeom>
          <a:solidFill>
            <a:srgbClr val="9AA8B3"/>
          </a:solidFill>
          <a:ln w="12700">
            <a:solidFill>
              <a:srgbClr val="9AA8B3"/>
            </a:solidFill>
            <a:prstDash val="solid"/>
          </a:ln>
        </p:spPr>
      </p:sp>
      <p:sp>
        <p:nvSpPr>
          <p:cNvPr id="32" name="Shape 30"/>
          <p:cNvSpPr/>
          <p:nvPr/>
        </p:nvSpPr>
        <p:spPr>
          <a:xfrm>
            <a:off x="1792224" y="3675888"/>
            <a:ext cx="384048" cy="384048"/>
          </a:xfrm>
          <a:prstGeom prst="rect">
            <a:avLst/>
          </a:prstGeom>
          <a:solidFill>
            <a:srgbClr val="DCE3E6"/>
          </a:solidFill>
          <a:ln w="12700">
            <a:solidFill>
              <a:srgbClr val="DCE3E6"/>
            </a:solidFill>
            <a:prstDash val="solid"/>
          </a:ln>
        </p:spPr>
      </p:sp>
      <p:sp>
        <p:nvSpPr>
          <p:cNvPr id="33" name="Shape 31"/>
          <p:cNvSpPr/>
          <p:nvPr/>
        </p:nvSpPr>
        <p:spPr>
          <a:xfrm>
            <a:off x="2231136" y="3675888"/>
            <a:ext cx="384048" cy="384048"/>
          </a:xfrm>
          <a:prstGeom prst="rect">
            <a:avLst/>
          </a:prstGeom>
          <a:solidFill>
            <a:srgbClr val="5E7080"/>
          </a:solidFill>
          <a:ln w="12700">
            <a:solidFill>
              <a:srgbClr val="5E7080"/>
            </a:solidFill>
            <a:prstDash val="solid"/>
          </a:ln>
        </p:spPr>
      </p:sp>
      <p:sp>
        <p:nvSpPr>
          <p:cNvPr id="34" name="Shape 32"/>
          <p:cNvSpPr/>
          <p:nvPr/>
        </p:nvSpPr>
        <p:spPr>
          <a:xfrm>
            <a:off x="2670048" y="3675888"/>
            <a:ext cx="384048" cy="384048"/>
          </a:xfrm>
          <a:prstGeom prst="rect">
            <a:avLst/>
          </a:prstGeom>
          <a:solidFill>
            <a:srgbClr val="9AA8B3"/>
          </a:solidFill>
          <a:ln w="12700">
            <a:solidFill>
              <a:srgbClr val="9AA8B3"/>
            </a:solidFill>
            <a:prstDash val="solid"/>
          </a:ln>
        </p:spPr>
      </p:sp>
      <p:sp>
        <p:nvSpPr>
          <p:cNvPr id="35" name="Shape 33"/>
          <p:cNvSpPr/>
          <p:nvPr/>
        </p:nvSpPr>
        <p:spPr>
          <a:xfrm>
            <a:off x="3108960" y="3675888"/>
            <a:ext cx="384048" cy="384048"/>
          </a:xfrm>
          <a:prstGeom prst="rect">
            <a:avLst/>
          </a:prstGeom>
          <a:solidFill>
            <a:srgbClr val="DCE3E6"/>
          </a:solidFill>
          <a:ln w="12700">
            <a:solidFill>
              <a:srgbClr val="DCE3E6"/>
            </a:solidFill>
            <a:prstDash val="solid"/>
          </a:ln>
        </p:spPr>
      </p:sp>
      <p:sp>
        <p:nvSpPr>
          <p:cNvPr id="36" name="Shape 34"/>
          <p:cNvSpPr/>
          <p:nvPr/>
        </p:nvSpPr>
        <p:spPr>
          <a:xfrm>
            <a:off x="4722876" y="1874520"/>
            <a:ext cx="2743200" cy="731520"/>
          </a:xfrm>
          <a:prstGeom prst="rect">
            <a:avLst/>
          </a:prstGeom>
          <a:solidFill>
            <a:schemeClr val="bg2"/>
          </a:solidFill>
          <a:ln w="12700">
            <a:solidFill>
              <a:schemeClr val="bg2"/>
            </a:solidFill>
            <a:prstDash val="solid"/>
          </a:ln>
        </p:spPr>
      </p:sp>
      <p:sp>
        <p:nvSpPr>
          <p:cNvPr id="37" name="Text 35"/>
          <p:cNvSpPr txBox="1"/>
          <p:nvPr/>
        </p:nvSpPr>
        <p:spPr>
          <a:xfrm>
            <a:off x="4860036" y="1965960"/>
            <a:ext cx="2468880" cy="228600"/>
          </a:xfrm>
          <a:prstGeom prst="rect">
            <a:avLst/>
          </a:prstGeom>
          <a:noFill/>
          <a:ln/>
        </p:spPr>
        <p:txBody>
          <a:bodyPr wrap="square" lIns="0" tIns="0" rIns="0" bIns="0" rtlCol="0" anchor="t"/>
          <a:lstStyle/>
          <a:p>
            <a:pPr indent="0" marL="0">
              <a:buNone/>
            </a:pPr>
            <a:r>
              <a:rPr lang="en-US" sz="1000" b="1" dirty="0">
                <a:solidFill>
                  <a:schemeClr val="tx2"/>
                </a:solidFill>
              </a:rPr>
              <a:t>THE WRITTEN STEP</a:t>
            </a:r>
            <a:endParaRPr lang="en-US" sz="1000" dirty="0"/>
          </a:p>
        </p:txBody>
      </p:sp>
      <p:sp>
        <p:nvSpPr>
          <p:cNvPr id="38" name="Text 36"/>
          <p:cNvSpPr txBox="1"/>
          <p:nvPr/>
        </p:nvSpPr>
        <p:spPr>
          <a:xfrm>
            <a:off x="4860036" y="2221992"/>
            <a:ext cx="2468880" cy="320040"/>
          </a:xfrm>
          <a:prstGeom prst="rect">
            <a:avLst/>
          </a:prstGeom>
          <a:noFill/>
          <a:ln/>
        </p:spPr>
        <p:txBody>
          <a:bodyPr wrap="square" lIns="0" tIns="0" rIns="0" bIns="0" rtlCol="0" anchor="t"/>
          <a:lstStyle/>
          <a:p>
            <a:pPr indent="0" marL="0">
              <a:buNone/>
            </a:pPr>
            <a:r>
              <a:rPr lang="en-US" sz="1200" dirty="0">
                <a:solidFill>
                  <a:schemeClr val="tx1"/>
                </a:solidFill>
              </a:rPr>
              <a:t>Tell the line crew before isolating.</a:t>
            </a:r>
            <a:endParaRPr lang="en-US" sz="1200" dirty="0"/>
          </a:p>
        </p:txBody>
      </p:sp>
      <p:sp>
        <p:nvSpPr>
          <p:cNvPr id="39" name="Shape 37"/>
          <p:cNvSpPr/>
          <p:nvPr/>
        </p:nvSpPr>
        <p:spPr>
          <a:xfrm>
            <a:off x="4722876" y="2697480"/>
            <a:ext cx="2743200" cy="1005840"/>
          </a:xfrm>
          <a:prstGeom prst="rect">
            <a:avLst/>
          </a:prstGeom>
          <a:solidFill>
            <a:schemeClr val="bg1"/>
          </a:solidFill>
          <a:ln w="19050">
            <a:solidFill>
              <a:schemeClr val="tx1"/>
            </a:solidFill>
            <a:prstDash val="solid"/>
          </a:ln>
        </p:spPr>
      </p:sp>
      <p:sp>
        <p:nvSpPr>
          <p:cNvPr id="40" name="Text 38"/>
          <p:cNvSpPr txBox="1"/>
          <p:nvPr/>
        </p:nvSpPr>
        <p:spPr>
          <a:xfrm>
            <a:off x="4860036" y="2788920"/>
            <a:ext cx="2468880" cy="228600"/>
          </a:xfrm>
          <a:prstGeom prst="rect">
            <a:avLst/>
          </a:prstGeom>
          <a:noFill/>
          <a:ln/>
        </p:spPr>
        <p:txBody>
          <a:bodyPr wrap="square" lIns="0" tIns="0" rIns="0" bIns="0" rtlCol="0" anchor="t"/>
          <a:lstStyle/>
          <a:p>
            <a:pPr indent="0" marL="0">
              <a:buNone/>
            </a:pPr>
            <a:r>
              <a:rPr lang="en-US" sz="1000" b="1" dirty="0">
                <a:solidFill>
                  <a:schemeClr val="tx2"/>
                </a:solidFill>
              </a:rPr>
              <a:t>THE NOTE</a:t>
            </a:r>
            <a:endParaRPr lang="en-US" sz="1000" dirty="0"/>
          </a:p>
        </p:txBody>
      </p:sp>
      <p:sp>
        <p:nvSpPr>
          <p:cNvPr id="41" name="Text 39"/>
          <p:cNvSpPr txBox="1"/>
          <p:nvPr/>
        </p:nvSpPr>
        <p:spPr>
          <a:xfrm>
            <a:off x="4860036" y="3044952"/>
            <a:ext cx="2468880" cy="594360"/>
          </a:xfrm>
          <a:prstGeom prst="rect">
            <a:avLst/>
          </a:prstGeom>
          <a:noFill/>
          <a:ln/>
        </p:spPr>
        <p:txBody>
          <a:bodyPr wrap="square" lIns="0" tIns="0" rIns="0" bIns="0" rtlCol="0" anchor="t"/>
          <a:lstStyle/>
          <a:p>
            <a:pPr indent="0" marL="0">
              <a:buNone/>
            </a:pPr>
            <a:r>
              <a:rPr lang="en-US" sz="1200" dirty="0">
                <a:solidFill>
                  <a:schemeClr val="tx1"/>
                </a:solidFill>
              </a:rPr>
              <a:t>...so we </a:t>
            </a:r>
            <a:pPr indent="0" marL="0">
              <a:buNone/>
            </a:pPr>
            <a:r>
              <a:rPr lang="en-US" sz="1200" b="1" dirty="0">
                <a:solidFill>
                  <a:schemeClr val="tx1"/>
                </a:solidFill>
                <a:highlight>
                  <a:srgbClr val="FFC9A6"/>
                </a:highlight>
              </a:rPr>
              <a:t>didn't tell the line crew before isolating</a:t>
            </a:r>
            <a:pPr indent="0" marL="0">
              <a:buNone/>
            </a:pPr>
            <a:r>
              <a:rPr lang="en-US" sz="1200" dirty="0">
                <a:solidFill>
                  <a:schemeClr val="tx1"/>
                </a:solidFill>
              </a:rPr>
              <a:t>...</a:t>
            </a:r>
            <a:endParaRPr lang="en-US" sz="1200" dirty="0"/>
          </a:p>
        </p:txBody>
      </p:sp>
      <p:sp>
        <p:nvSpPr>
          <p:cNvPr id="42" name="Shape 40"/>
          <p:cNvSpPr/>
          <p:nvPr/>
        </p:nvSpPr>
        <p:spPr>
          <a:xfrm>
            <a:off x="4722876" y="3794760"/>
            <a:ext cx="2743200" cy="640080"/>
          </a:xfrm>
          <a:prstGeom prst="rect">
            <a:avLst/>
          </a:prstGeom>
          <a:solidFill>
            <a:schemeClr val="bg2"/>
          </a:solidFill>
          <a:ln w="12700">
            <a:solidFill>
              <a:schemeClr val="bg2"/>
            </a:solidFill>
            <a:prstDash val="solid"/>
          </a:ln>
        </p:spPr>
      </p:sp>
      <p:sp>
        <p:nvSpPr>
          <p:cNvPr id="43" name="Text 41"/>
          <p:cNvSpPr txBox="1"/>
          <p:nvPr/>
        </p:nvSpPr>
        <p:spPr>
          <a:xfrm>
            <a:off x="4860036" y="3886200"/>
            <a:ext cx="2468880" cy="228600"/>
          </a:xfrm>
          <a:prstGeom prst="rect">
            <a:avLst/>
          </a:prstGeom>
          <a:noFill/>
          <a:ln/>
        </p:spPr>
        <p:txBody>
          <a:bodyPr wrap="square" lIns="0" tIns="0" rIns="0" bIns="0" rtlCol="0" anchor="t"/>
          <a:lstStyle/>
          <a:p>
            <a:pPr indent="0" marL="0">
              <a:buNone/>
            </a:pPr>
            <a:r>
              <a:rPr lang="en-US" sz="1000" b="1" dirty="0">
                <a:solidFill>
                  <a:schemeClr val="tx2"/>
                </a:solidFill>
              </a:rPr>
              <a:t>OTHER SHIFTS</a:t>
            </a:r>
            <a:endParaRPr lang="en-US" sz="1000" dirty="0"/>
          </a:p>
        </p:txBody>
      </p:sp>
      <p:sp>
        <p:nvSpPr>
          <p:cNvPr id="44" name="Text 42"/>
          <p:cNvSpPr txBox="1"/>
          <p:nvPr/>
        </p:nvSpPr>
        <p:spPr>
          <a:xfrm>
            <a:off x="4860036" y="4142232"/>
            <a:ext cx="2468880" cy="228600"/>
          </a:xfrm>
          <a:prstGeom prst="rect">
            <a:avLst/>
          </a:prstGeom>
          <a:noFill/>
          <a:ln/>
        </p:spPr>
        <p:txBody>
          <a:bodyPr wrap="square" lIns="0" tIns="0" rIns="0" bIns="0" rtlCol="0" anchor="t"/>
          <a:lstStyle/>
          <a:p>
            <a:pPr indent="0" marL="0">
              <a:buNone/>
            </a:pPr>
            <a:r>
              <a:rPr lang="en-US" sz="1200" dirty="0">
                <a:solidFill>
                  <a:schemeClr val="tx1"/>
                </a:solidFill>
              </a:rPr>
              <a:t>The same step on other shifts.</a:t>
            </a:r>
            <a:endParaRPr lang="en-US" sz="1200" dirty="0"/>
          </a:p>
        </p:txBody>
      </p:sp>
      <p:sp>
        <p:nvSpPr>
          <p:cNvPr id="45" name="Text 43"/>
          <p:cNvSpPr txBox="1"/>
          <p:nvPr/>
        </p:nvSpPr>
        <p:spPr>
          <a:xfrm>
            <a:off x="8531352" y="1920240"/>
            <a:ext cx="2743200" cy="274320"/>
          </a:xfrm>
          <a:prstGeom prst="rect">
            <a:avLst/>
          </a:prstGeom>
          <a:noFill/>
          <a:ln/>
        </p:spPr>
        <p:txBody>
          <a:bodyPr wrap="square" lIns="0" tIns="0" rIns="0" bIns="0" rtlCol="0" anchor="t"/>
          <a:lstStyle/>
          <a:p>
            <a:pPr indent="0" marL="0">
              <a:buNone/>
            </a:pPr>
            <a:r>
              <a:rPr lang="en-US" sz="1200" b="1" dirty="0">
                <a:solidFill>
                  <a:schemeClr val="tx2"/>
                </a:solidFill>
              </a:rPr>
              <a:t>Least certain first</a:t>
            </a:r>
            <a:endParaRPr lang="en-US" sz="1200" dirty="0"/>
          </a:p>
        </p:txBody>
      </p:sp>
      <p:sp>
        <p:nvSpPr>
          <p:cNvPr id="46" name="Shape 44"/>
          <p:cNvSpPr/>
          <p:nvPr/>
        </p:nvSpPr>
        <p:spPr>
          <a:xfrm>
            <a:off x="8531352" y="2286000"/>
            <a:ext cx="2743200" cy="128016"/>
          </a:xfrm>
          <a:prstGeom prst="rect">
            <a:avLst/>
          </a:prstGeom>
          <a:solidFill>
            <a:srgbClr val="DCE3E6"/>
          </a:solidFill>
          <a:ln w="12700">
            <a:solidFill>
              <a:srgbClr val="DCE3E6"/>
            </a:solidFill>
            <a:prstDash val="solid"/>
          </a:ln>
        </p:spPr>
      </p:sp>
      <p:sp>
        <p:nvSpPr>
          <p:cNvPr id="47" name="Shape 45"/>
          <p:cNvSpPr/>
          <p:nvPr/>
        </p:nvSpPr>
        <p:spPr>
          <a:xfrm>
            <a:off x="8531352" y="2286000"/>
            <a:ext cx="1097280" cy="128016"/>
          </a:xfrm>
          <a:prstGeom prst="rect">
            <a:avLst/>
          </a:prstGeom>
          <a:solidFill>
            <a:schemeClr val="tx1"/>
          </a:solidFill>
          <a:ln w="12700">
            <a:solidFill>
              <a:schemeClr val="tx1"/>
            </a:solidFill>
            <a:prstDash val="solid"/>
          </a:ln>
        </p:spPr>
      </p:sp>
      <p:sp>
        <p:nvSpPr>
          <p:cNvPr id="48" name="Shape 46"/>
          <p:cNvSpPr/>
          <p:nvPr/>
        </p:nvSpPr>
        <p:spPr>
          <a:xfrm>
            <a:off x="8531352" y="2697480"/>
            <a:ext cx="2743200" cy="530352"/>
          </a:xfrm>
          <a:prstGeom prst="rect">
            <a:avLst/>
          </a:prstGeom>
          <a:solidFill>
            <a:schemeClr val="bg2"/>
          </a:solidFill>
          <a:ln w="12700">
            <a:solidFill>
              <a:schemeClr val="bg2"/>
            </a:solidFill>
            <a:prstDash val="solid"/>
          </a:ln>
        </p:spPr>
      </p:sp>
      <p:sp>
        <p:nvSpPr>
          <p:cNvPr id="49" name="Shape 47"/>
          <p:cNvSpPr/>
          <p:nvPr/>
        </p:nvSpPr>
        <p:spPr>
          <a:xfrm>
            <a:off x="8668512" y="2916936"/>
            <a:ext cx="452628" cy="91440"/>
          </a:xfrm>
          <a:prstGeom prst="rect">
            <a:avLst/>
          </a:prstGeom>
          <a:solidFill>
            <a:schemeClr val="tx2"/>
          </a:solidFill>
          <a:ln w="12700">
            <a:solidFill>
              <a:schemeClr val="tx2"/>
            </a:solidFill>
            <a:prstDash val="solid"/>
          </a:ln>
        </p:spPr>
      </p:sp>
      <p:sp>
        <p:nvSpPr>
          <p:cNvPr id="50" name="Shape 48"/>
          <p:cNvSpPr/>
          <p:nvPr/>
        </p:nvSpPr>
        <p:spPr>
          <a:xfrm>
            <a:off x="9857232" y="2825496"/>
            <a:ext cx="713232" cy="274320"/>
          </a:xfrm>
          <a:prstGeom prst="rect">
            <a:avLst/>
          </a:prstGeom>
          <a:solidFill>
            <a:schemeClr val="tx1"/>
          </a:solidFill>
          <a:ln w="12700">
            <a:solidFill>
              <a:schemeClr val="tx1"/>
            </a:solidFill>
            <a:prstDash val="solid"/>
          </a:ln>
        </p:spPr>
      </p:sp>
      <p:sp>
        <p:nvSpPr>
          <p:cNvPr id="51" name="Text 49"/>
          <p:cNvSpPr txBox="1"/>
          <p:nvPr/>
        </p:nvSpPr>
        <p:spPr>
          <a:xfrm>
            <a:off x="9857232" y="2825496"/>
            <a:ext cx="713232" cy="274320"/>
          </a:xfrm>
          <a:prstGeom prst="rect">
            <a:avLst/>
          </a:prstGeom>
          <a:noFill/>
          <a:ln/>
        </p:spPr>
        <p:txBody>
          <a:bodyPr wrap="square" lIns="0" tIns="0" rIns="0" bIns="0" rtlCol="0" anchor="ctr"/>
          <a:lstStyle/>
          <a:p>
            <a:pPr algn="ctr" indent="0" marL="0">
              <a:buNone/>
            </a:pPr>
            <a:r>
              <a:rPr lang="en-US" sz="1000" b="1" dirty="0">
                <a:solidFill>
                  <a:schemeClr val="bg1"/>
                </a:solidFill>
              </a:rPr>
              <a:t>Approve</a:t>
            </a:r>
            <a:endParaRPr lang="en-US" sz="1000" dirty="0"/>
          </a:p>
        </p:txBody>
      </p:sp>
      <p:sp>
        <p:nvSpPr>
          <p:cNvPr id="52" name="Shape 50"/>
          <p:cNvSpPr/>
          <p:nvPr/>
        </p:nvSpPr>
        <p:spPr>
          <a:xfrm>
            <a:off x="10625328" y="2825496"/>
            <a:ext cx="566928" cy="274320"/>
          </a:xfrm>
          <a:prstGeom prst="rect">
            <a:avLst/>
          </a:prstGeom>
          <a:solidFill>
            <a:schemeClr val="bg1"/>
          </a:solidFill>
          <a:ln w="12700">
            <a:solidFill>
              <a:schemeClr val="tx1"/>
            </a:solidFill>
            <a:prstDash val="solid"/>
          </a:ln>
        </p:spPr>
      </p:sp>
      <p:sp>
        <p:nvSpPr>
          <p:cNvPr id="53" name="Text 51"/>
          <p:cNvSpPr txBox="1"/>
          <p:nvPr/>
        </p:nvSpPr>
        <p:spPr>
          <a:xfrm>
            <a:off x="10625328" y="2825496"/>
            <a:ext cx="566928" cy="274320"/>
          </a:xfrm>
          <a:prstGeom prst="rect">
            <a:avLst/>
          </a:prstGeom>
          <a:noFill/>
          <a:ln/>
        </p:spPr>
        <p:txBody>
          <a:bodyPr wrap="square" lIns="0" tIns="0" rIns="0" bIns="0" rtlCol="0" anchor="ctr"/>
          <a:lstStyle/>
          <a:p>
            <a:pPr algn="ctr" indent="0" marL="0">
              <a:buNone/>
            </a:pPr>
            <a:r>
              <a:rPr lang="en-US" sz="1000" b="1" dirty="0">
                <a:solidFill>
                  <a:schemeClr val="tx1"/>
                </a:solidFill>
              </a:rPr>
              <a:t>Reject</a:t>
            </a:r>
            <a:endParaRPr lang="en-US" sz="1000" dirty="0"/>
          </a:p>
        </p:txBody>
      </p:sp>
      <p:sp>
        <p:nvSpPr>
          <p:cNvPr id="54" name="Shape 52"/>
          <p:cNvSpPr/>
          <p:nvPr/>
        </p:nvSpPr>
        <p:spPr>
          <a:xfrm>
            <a:off x="8531352" y="3337560"/>
            <a:ext cx="2743200" cy="530352"/>
          </a:xfrm>
          <a:prstGeom prst="rect">
            <a:avLst/>
          </a:prstGeom>
          <a:solidFill>
            <a:schemeClr val="bg2"/>
          </a:solidFill>
          <a:ln w="12700">
            <a:solidFill>
              <a:schemeClr val="bg2"/>
            </a:solidFill>
            <a:prstDash val="solid"/>
          </a:ln>
        </p:spPr>
      </p:sp>
      <p:sp>
        <p:nvSpPr>
          <p:cNvPr id="55" name="Shape 53"/>
          <p:cNvSpPr/>
          <p:nvPr/>
        </p:nvSpPr>
        <p:spPr>
          <a:xfrm>
            <a:off x="8668512" y="3557016"/>
            <a:ext cx="754380" cy="91440"/>
          </a:xfrm>
          <a:prstGeom prst="rect">
            <a:avLst/>
          </a:prstGeom>
          <a:solidFill>
            <a:schemeClr val="tx2"/>
          </a:solidFill>
          <a:ln w="12700">
            <a:solidFill>
              <a:schemeClr val="tx2"/>
            </a:solidFill>
            <a:prstDash val="solid"/>
          </a:ln>
        </p:spPr>
      </p:sp>
      <p:sp>
        <p:nvSpPr>
          <p:cNvPr id="56" name="Shape 54"/>
          <p:cNvSpPr/>
          <p:nvPr/>
        </p:nvSpPr>
        <p:spPr>
          <a:xfrm>
            <a:off x="9857232" y="3465576"/>
            <a:ext cx="713232" cy="274320"/>
          </a:xfrm>
          <a:prstGeom prst="rect">
            <a:avLst/>
          </a:prstGeom>
          <a:solidFill>
            <a:schemeClr val="tx1"/>
          </a:solidFill>
          <a:ln w="12700">
            <a:solidFill>
              <a:schemeClr val="tx1"/>
            </a:solidFill>
            <a:prstDash val="solid"/>
          </a:ln>
        </p:spPr>
      </p:sp>
      <p:sp>
        <p:nvSpPr>
          <p:cNvPr id="57" name="Text 55"/>
          <p:cNvSpPr txBox="1"/>
          <p:nvPr/>
        </p:nvSpPr>
        <p:spPr>
          <a:xfrm>
            <a:off x="9857232" y="3465576"/>
            <a:ext cx="713232" cy="274320"/>
          </a:xfrm>
          <a:prstGeom prst="rect">
            <a:avLst/>
          </a:prstGeom>
          <a:noFill/>
          <a:ln/>
        </p:spPr>
        <p:txBody>
          <a:bodyPr wrap="square" lIns="0" tIns="0" rIns="0" bIns="0" rtlCol="0" anchor="ctr"/>
          <a:lstStyle/>
          <a:p>
            <a:pPr algn="ctr" indent="0" marL="0">
              <a:buNone/>
            </a:pPr>
            <a:r>
              <a:rPr lang="en-US" sz="1000" b="1" dirty="0">
                <a:solidFill>
                  <a:schemeClr val="bg1"/>
                </a:solidFill>
              </a:rPr>
              <a:t>Approve</a:t>
            </a:r>
            <a:endParaRPr lang="en-US" sz="1000" dirty="0"/>
          </a:p>
        </p:txBody>
      </p:sp>
      <p:sp>
        <p:nvSpPr>
          <p:cNvPr id="58" name="Shape 56"/>
          <p:cNvSpPr/>
          <p:nvPr/>
        </p:nvSpPr>
        <p:spPr>
          <a:xfrm>
            <a:off x="10625328" y="3465576"/>
            <a:ext cx="566928" cy="274320"/>
          </a:xfrm>
          <a:prstGeom prst="rect">
            <a:avLst/>
          </a:prstGeom>
          <a:solidFill>
            <a:schemeClr val="bg1"/>
          </a:solidFill>
          <a:ln w="12700">
            <a:solidFill>
              <a:schemeClr val="tx1"/>
            </a:solidFill>
            <a:prstDash val="solid"/>
          </a:ln>
        </p:spPr>
      </p:sp>
      <p:sp>
        <p:nvSpPr>
          <p:cNvPr id="59" name="Text 57"/>
          <p:cNvSpPr txBox="1"/>
          <p:nvPr/>
        </p:nvSpPr>
        <p:spPr>
          <a:xfrm>
            <a:off x="10625328" y="3465576"/>
            <a:ext cx="566928" cy="274320"/>
          </a:xfrm>
          <a:prstGeom prst="rect">
            <a:avLst/>
          </a:prstGeom>
          <a:noFill/>
          <a:ln/>
        </p:spPr>
        <p:txBody>
          <a:bodyPr wrap="square" lIns="0" tIns="0" rIns="0" bIns="0" rtlCol="0" anchor="ctr"/>
          <a:lstStyle/>
          <a:p>
            <a:pPr algn="ctr" indent="0" marL="0">
              <a:buNone/>
            </a:pPr>
            <a:r>
              <a:rPr lang="en-US" sz="1000" b="1" dirty="0">
                <a:solidFill>
                  <a:schemeClr val="tx1"/>
                </a:solidFill>
              </a:rPr>
              <a:t>Reject</a:t>
            </a:r>
            <a:endParaRPr lang="en-US" sz="1000" dirty="0"/>
          </a:p>
        </p:txBody>
      </p:sp>
      <p:sp>
        <p:nvSpPr>
          <p:cNvPr id="60" name="Shape 58"/>
          <p:cNvSpPr/>
          <p:nvPr/>
        </p:nvSpPr>
        <p:spPr>
          <a:xfrm>
            <a:off x="8531352" y="3977640"/>
            <a:ext cx="2743200" cy="530352"/>
          </a:xfrm>
          <a:prstGeom prst="rect">
            <a:avLst/>
          </a:prstGeom>
          <a:solidFill>
            <a:schemeClr val="bg2"/>
          </a:solidFill>
          <a:ln w="12700">
            <a:solidFill>
              <a:schemeClr val="bg2"/>
            </a:solidFill>
            <a:prstDash val="solid"/>
          </a:ln>
        </p:spPr>
      </p:sp>
      <p:sp>
        <p:nvSpPr>
          <p:cNvPr id="61" name="Shape 59"/>
          <p:cNvSpPr/>
          <p:nvPr/>
        </p:nvSpPr>
        <p:spPr>
          <a:xfrm>
            <a:off x="8668512" y="4197096"/>
            <a:ext cx="1056132" cy="91440"/>
          </a:xfrm>
          <a:prstGeom prst="rect">
            <a:avLst/>
          </a:prstGeom>
          <a:solidFill>
            <a:schemeClr val="tx2"/>
          </a:solidFill>
          <a:ln w="12700">
            <a:solidFill>
              <a:schemeClr val="tx2"/>
            </a:solidFill>
            <a:prstDash val="solid"/>
          </a:ln>
        </p:spPr>
      </p:sp>
      <p:sp>
        <p:nvSpPr>
          <p:cNvPr id="62" name="Shape 60"/>
          <p:cNvSpPr/>
          <p:nvPr/>
        </p:nvSpPr>
        <p:spPr>
          <a:xfrm>
            <a:off x="9857232" y="4105656"/>
            <a:ext cx="713232" cy="274320"/>
          </a:xfrm>
          <a:prstGeom prst="rect">
            <a:avLst/>
          </a:prstGeom>
          <a:solidFill>
            <a:schemeClr val="tx1"/>
          </a:solidFill>
          <a:ln w="12700">
            <a:solidFill>
              <a:schemeClr val="tx1"/>
            </a:solidFill>
            <a:prstDash val="solid"/>
          </a:ln>
        </p:spPr>
      </p:sp>
      <p:sp>
        <p:nvSpPr>
          <p:cNvPr id="63" name="Text 61"/>
          <p:cNvSpPr txBox="1"/>
          <p:nvPr/>
        </p:nvSpPr>
        <p:spPr>
          <a:xfrm>
            <a:off x="9857232" y="4105656"/>
            <a:ext cx="713232" cy="274320"/>
          </a:xfrm>
          <a:prstGeom prst="rect">
            <a:avLst/>
          </a:prstGeom>
          <a:noFill/>
          <a:ln/>
        </p:spPr>
        <p:txBody>
          <a:bodyPr wrap="square" lIns="0" tIns="0" rIns="0" bIns="0" rtlCol="0" anchor="ctr"/>
          <a:lstStyle/>
          <a:p>
            <a:pPr algn="ctr" indent="0" marL="0">
              <a:buNone/>
            </a:pPr>
            <a:r>
              <a:rPr lang="en-US" sz="1000" b="1" dirty="0">
                <a:solidFill>
                  <a:schemeClr val="bg1"/>
                </a:solidFill>
              </a:rPr>
              <a:t>Approve</a:t>
            </a:r>
            <a:endParaRPr lang="en-US" sz="1000" dirty="0"/>
          </a:p>
        </p:txBody>
      </p:sp>
      <p:sp>
        <p:nvSpPr>
          <p:cNvPr id="64" name="Shape 62"/>
          <p:cNvSpPr/>
          <p:nvPr/>
        </p:nvSpPr>
        <p:spPr>
          <a:xfrm>
            <a:off x="10625328" y="4105656"/>
            <a:ext cx="566928" cy="274320"/>
          </a:xfrm>
          <a:prstGeom prst="rect">
            <a:avLst/>
          </a:prstGeom>
          <a:solidFill>
            <a:schemeClr val="bg1"/>
          </a:solidFill>
          <a:ln w="12700">
            <a:solidFill>
              <a:schemeClr val="tx1"/>
            </a:solidFill>
            <a:prstDash val="solid"/>
          </a:ln>
        </p:spPr>
      </p:sp>
      <p:sp>
        <p:nvSpPr>
          <p:cNvPr id="65" name="Text 63"/>
          <p:cNvSpPr txBox="1"/>
          <p:nvPr/>
        </p:nvSpPr>
        <p:spPr>
          <a:xfrm>
            <a:off x="10625328" y="4105656"/>
            <a:ext cx="566928" cy="274320"/>
          </a:xfrm>
          <a:prstGeom prst="rect">
            <a:avLst/>
          </a:prstGeom>
          <a:noFill/>
          <a:ln/>
        </p:spPr>
        <p:txBody>
          <a:bodyPr wrap="square" lIns="0" tIns="0" rIns="0" bIns="0" rtlCol="0" anchor="ctr"/>
          <a:lstStyle/>
          <a:p>
            <a:pPr algn="ctr" indent="0" marL="0">
              <a:buNone/>
            </a:pPr>
            <a:r>
              <a:rPr lang="en-US" sz="1000" b="1" dirty="0">
                <a:solidFill>
                  <a:schemeClr val="tx1"/>
                </a:solidFill>
              </a:rPr>
              <a:t>Reject</a:t>
            </a:r>
            <a:endParaRPr lang="en-US" sz="1000" dirty="0"/>
          </a:p>
        </p:txBody>
      </p:sp>
      <p:sp>
        <p:nvSpPr>
          <p:cNvPr id="66" name="Text 64"/>
          <p:cNvSpPr txBox="1"/>
          <p:nvPr/>
        </p:nvSpPr>
        <p:spPr>
          <a:xfrm>
            <a:off x="914400" y="4572000"/>
            <a:ext cx="2743200" cy="365760"/>
          </a:xfrm>
          <a:prstGeom prst="rect">
            <a:avLst/>
          </a:prstGeom>
          <a:noFill/>
          <a:ln/>
        </p:spPr>
        <p:txBody>
          <a:bodyPr wrap="square" lIns="0" tIns="0" rIns="0" bIns="0" rtlCol="0" anchor="t"/>
          <a:lstStyle/>
          <a:p>
            <a:pPr indent="0" marL="0">
              <a:buNone/>
            </a:pPr>
            <a:r>
              <a:rPr lang="en-US" sz="2000" b="1" dirty="0">
                <a:solidFill>
                  <a:schemeClr val="tx1"/>
                </a:solidFill>
              </a:rPr>
              <a:t>Heat Strip</a:t>
            </a:r>
            <a:endParaRPr lang="en-US" sz="2000" dirty="0"/>
          </a:p>
        </p:txBody>
      </p:sp>
      <p:sp>
        <p:nvSpPr>
          <p:cNvPr id="67" name="Text 65"/>
          <p:cNvSpPr txBox="1"/>
          <p:nvPr/>
        </p:nvSpPr>
        <p:spPr>
          <a:xfrm>
            <a:off x="914400" y="4983480"/>
            <a:ext cx="2743200" cy="731520"/>
          </a:xfrm>
          <a:prstGeom prst="rect">
            <a:avLst/>
          </a:prstGeom>
          <a:noFill/>
          <a:ln/>
        </p:spPr>
        <p:txBody>
          <a:bodyPr wrap="square" lIns="0" tIns="0" rIns="0" bIns="0" rtlCol="0" anchor="t"/>
          <a:lstStyle/>
          <a:p>
            <a:pPr indent="0" marL="0">
              <a:buNone/>
            </a:pPr>
            <a:r>
              <a:rPr lang="en-US" sz="1400" dirty="0">
                <a:solidFill>
                  <a:schemeClr val="tx2"/>
                </a:solidFill>
              </a:rPr>
              <a:t>Which steps drift most, and is it growing?</a:t>
            </a:r>
            <a:endParaRPr lang="en-US" sz="1400" dirty="0"/>
          </a:p>
        </p:txBody>
      </p:sp>
      <p:sp>
        <p:nvSpPr>
          <p:cNvPr id="68" name="Text 66"/>
          <p:cNvSpPr txBox="1"/>
          <p:nvPr/>
        </p:nvSpPr>
        <p:spPr>
          <a:xfrm>
            <a:off x="4722876" y="4572000"/>
            <a:ext cx="2743200" cy="365760"/>
          </a:xfrm>
          <a:prstGeom prst="rect">
            <a:avLst/>
          </a:prstGeom>
          <a:noFill/>
          <a:ln/>
        </p:spPr>
        <p:txBody>
          <a:bodyPr wrap="square" lIns="0" tIns="0" rIns="0" bIns="0" rtlCol="0" anchor="t"/>
          <a:lstStyle/>
          <a:p>
            <a:pPr indent="0" marL="0">
              <a:buNone/>
            </a:pPr>
            <a:r>
              <a:rPr lang="en-US" sz="2000" b="1" dirty="0">
                <a:solidFill>
                  <a:schemeClr val="tx1"/>
                </a:solidFill>
              </a:rPr>
              <a:t>Evidence Viewer</a:t>
            </a:r>
            <a:endParaRPr lang="en-US" sz="2000" dirty="0"/>
          </a:p>
        </p:txBody>
      </p:sp>
      <p:sp>
        <p:nvSpPr>
          <p:cNvPr id="69" name="Text 67"/>
          <p:cNvSpPr txBox="1"/>
          <p:nvPr/>
        </p:nvSpPr>
        <p:spPr>
          <a:xfrm>
            <a:off x="4722876" y="4983480"/>
            <a:ext cx="2743200" cy="731520"/>
          </a:xfrm>
          <a:prstGeom prst="rect">
            <a:avLst/>
          </a:prstGeom>
          <a:noFill/>
          <a:ln/>
        </p:spPr>
        <p:txBody>
          <a:bodyPr wrap="square" lIns="0" tIns="0" rIns="0" bIns="0" rtlCol="0" anchor="t"/>
          <a:lstStyle/>
          <a:p>
            <a:pPr indent="0" marL="0">
              <a:buNone/>
            </a:pPr>
            <a:r>
              <a:rPr lang="en-US" sz="1400" dirty="0">
                <a:solidFill>
                  <a:schemeClr val="tx2"/>
                </a:solidFill>
              </a:rPr>
              <a:t>The exact words, checked word for word.</a:t>
            </a:r>
            <a:endParaRPr lang="en-US" sz="1400" dirty="0"/>
          </a:p>
        </p:txBody>
      </p:sp>
      <p:sp>
        <p:nvSpPr>
          <p:cNvPr id="70" name="Text 68"/>
          <p:cNvSpPr txBox="1"/>
          <p:nvPr/>
        </p:nvSpPr>
        <p:spPr>
          <a:xfrm>
            <a:off x="8531352" y="4572000"/>
            <a:ext cx="2743200" cy="365760"/>
          </a:xfrm>
          <a:prstGeom prst="rect">
            <a:avLst/>
          </a:prstGeom>
          <a:noFill/>
          <a:ln/>
        </p:spPr>
        <p:txBody>
          <a:bodyPr wrap="square" lIns="0" tIns="0" rIns="0" bIns="0" rtlCol="0" anchor="t"/>
          <a:lstStyle/>
          <a:p>
            <a:pPr indent="0" marL="0">
              <a:buNone/>
            </a:pPr>
            <a:r>
              <a:rPr lang="en-US" sz="2000" b="1" dirty="0">
                <a:solidFill>
                  <a:schemeClr val="tx1"/>
                </a:solidFill>
              </a:rPr>
              <a:t>Review Queue</a:t>
            </a:r>
            <a:endParaRPr lang="en-US" sz="2000" dirty="0"/>
          </a:p>
        </p:txBody>
      </p:sp>
      <p:sp>
        <p:nvSpPr>
          <p:cNvPr id="71" name="Text 69"/>
          <p:cNvSpPr txBox="1"/>
          <p:nvPr/>
        </p:nvSpPr>
        <p:spPr>
          <a:xfrm>
            <a:off x="8531352" y="4983480"/>
            <a:ext cx="2743200" cy="731520"/>
          </a:xfrm>
          <a:prstGeom prst="rect">
            <a:avLst/>
          </a:prstGeom>
          <a:noFill/>
          <a:ln/>
        </p:spPr>
        <p:txBody>
          <a:bodyPr wrap="square" lIns="0" tIns="0" rIns="0" bIns="0" rtlCol="0" anchor="t"/>
          <a:lstStyle/>
          <a:p>
            <a:pPr indent="0" marL="0">
              <a:buNone/>
            </a:pPr>
            <a:r>
              <a:rPr lang="en-US" sz="1400" dirty="0">
                <a:solidFill>
                  <a:schemeClr val="tx2"/>
                </a:solidFill>
              </a:rPr>
              <a:t>Least certain first. A person decides.</a:t>
            </a:r>
            <a:endParaRPr lang="en-US" sz="1400" dirty="0"/>
          </a:p>
        </p:txBody>
      </p:sp>
      <p:sp>
        <p:nvSpPr>
          <p:cNvPr id="72" name="Text 70"/>
          <p:cNvSpPr txBox="1"/>
          <p:nvPr/>
        </p:nvSpPr>
        <p:spPr>
          <a:xfrm>
            <a:off x="548640" y="6035040"/>
            <a:ext cx="5486400" cy="274320"/>
          </a:xfrm>
          <a:prstGeom prst="rect">
            <a:avLst/>
          </a:prstGeom>
          <a:noFill/>
          <a:ln/>
        </p:spPr>
        <p:txBody>
          <a:bodyPr wrap="square" lIns="0" tIns="0" rIns="0" bIns="0" rtlCol="0" anchor="t"/>
          <a:lstStyle/>
          <a:p>
            <a:pPr indent="0" marL="0">
              <a:buNone/>
            </a:pPr>
            <a:r>
              <a:rPr lang="en-US" sz="1000" dirty="0">
                <a:solidFill>
                  <a:schemeClr val="tx2"/>
                </a:solidFill>
              </a:rPr>
              <a:t>Schematic of the app screens.</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3800" b="1" dirty="0">
                <a:solidFill>
                  <a:schemeClr val="tx1"/>
                </a:solidFill>
              </a:rPr>
              <a:t>Proof, not promises</a:t>
            </a:r>
            <a:endParaRPr lang="en-US" sz="3800" dirty="0"/>
          </a:p>
        </p:txBody>
      </p:sp>
      <p:sp>
        <p:nvSpPr>
          <p:cNvPr id="3" name="Text 1"/>
          <p:cNvSpPr txBox="1"/>
          <p:nvPr/>
        </p:nvSpPr>
        <p:spPr>
          <a:xfrm>
            <a:off x="548640" y="1554480"/>
            <a:ext cx="2651760" cy="1005840"/>
          </a:xfrm>
          <a:prstGeom prst="rect">
            <a:avLst/>
          </a:prstGeom>
          <a:noFill/>
          <a:ln/>
        </p:spPr>
        <p:txBody>
          <a:bodyPr wrap="square" lIns="0" tIns="0" rIns="0" bIns="0" rtlCol="0" anchor="t"/>
          <a:lstStyle/>
          <a:p>
            <a:pPr indent="0" marL="0">
              <a:buNone/>
            </a:pPr>
            <a:r>
              <a:rPr lang="en-US" sz="5400" b="1" dirty="0">
                <a:solidFill>
                  <a:schemeClr val="tx1"/>
                </a:solidFill>
              </a:rPr>
              <a:t>{{PRECISION}}</a:t>
            </a:r>
            <a:endParaRPr lang="en-US" sz="5400" dirty="0"/>
          </a:p>
        </p:txBody>
      </p:sp>
      <p:sp>
        <p:nvSpPr>
          <p:cNvPr id="4" name="Text 2"/>
          <p:cNvSpPr txBox="1"/>
          <p:nvPr/>
        </p:nvSpPr>
        <p:spPr>
          <a:xfrm>
            <a:off x="548640" y="2606040"/>
            <a:ext cx="2560320" cy="548640"/>
          </a:xfrm>
          <a:prstGeom prst="rect">
            <a:avLst/>
          </a:prstGeom>
          <a:noFill/>
          <a:ln/>
        </p:spPr>
        <p:txBody>
          <a:bodyPr wrap="square" lIns="0" tIns="0" rIns="0" bIns="0" rtlCol="0" anchor="t"/>
          <a:lstStyle/>
          <a:p>
            <a:pPr indent="0" marL="0">
              <a:buNone/>
            </a:pPr>
            <a:r>
              <a:rPr lang="en-US" sz="1400" dirty="0">
                <a:solidFill>
                  <a:schemeClr val="tx2"/>
                </a:solidFill>
              </a:rPr>
              <a:t>precision: flags that were real</a:t>
            </a:r>
            <a:endParaRPr lang="en-US" sz="1400" dirty="0"/>
          </a:p>
        </p:txBody>
      </p:sp>
      <p:sp>
        <p:nvSpPr>
          <p:cNvPr id="5" name="Text 3"/>
          <p:cNvSpPr txBox="1"/>
          <p:nvPr/>
        </p:nvSpPr>
        <p:spPr>
          <a:xfrm>
            <a:off x="3337560" y="1554480"/>
            <a:ext cx="2651760" cy="1005840"/>
          </a:xfrm>
          <a:prstGeom prst="rect">
            <a:avLst/>
          </a:prstGeom>
          <a:noFill/>
          <a:ln/>
        </p:spPr>
        <p:txBody>
          <a:bodyPr wrap="square" lIns="0" tIns="0" rIns="0" bIns="0" rtlCol="0" anchor="t"/>
          <a:lstStyle/>
          <a:p>
            <a:pPr indent="0" marL="0">
              <a:buNone/>
            </a:pPr>
            <a:r>
              <a:rPr lang="en-US" sz="5400" b="1" dirty="0">
                <a:solidFill>
                  <a:schemeClr val="tx1"/>
                </a:solidFill>
              </a:rPr>
              <a:t>{{RECALL}}</a:t>
            </a:r>
            <a:endParaRPr lang="en-US" sz="5400" dirty="0"/>
          </a:p>
        </p:txBody>
      </p:sp>
      <p:sp>
        <p:nvSpPr>
          <p:cNvPr id="6" name="Text 4"/>
          <p:cNvSpPr txBox="1"/>
          <p:nvPr/>
        </p:nvSpPr>
        <p:spPr>
          <a:xfrm>
            <a:off x="3337560" y="2606040"/>
            <a:ext cx="2560320" cy="548640"/>
          </a:xfrm>
          <a:prstGeom prst="rect">
            <a:avLst/>
          </a:prstGeom>
          <a:noFill/>
          <a:ln/>
        </p:spPr>
        <p:txBody>
          <a:bodyPr wrap="square" lIns="0" tIns="0" rIns="0" bIns="0" rtlCol="0" anchor="t"/>
          <a:lstStyle/>
          <a:p>
            <a:pPr indent="0" marL="0">
              <a:buNone/>
            </a:pPr>
            <a:r>
              <a:rPr lang="en-US" sz="1400" dirty="0">
                <a:solidFill>
                  <a:schemeClr val="tx2"/>
                </a:solidFill>
              </a:rPr>
              <a:t>recall: real drifts we found</a:t>
            </a:r>
            <a:endParaRPr lang="en-US" sz="1400" dirty="0"/>
          </a:p>
        </p:txBody>
      </p:sp>
      <p:sp>
        <p:nvSpPr>
          <p:cNvPr id="7" name="Text 5"/>
          <p:cNvSpPr txBox="1"/>
          <p:nvPr/>
        </p:nvSpPr>
        <p:spPr>
          <a:xfrm>
            <a:off x="6126480" y="1554480"/>
            <a:ext cx="2651760" cy="1005840"/>
          </a:xfrm>
          <a:prstGeom prst="rect">
            <a:avLst/>
          </a:prstGeom>
          <a:noFill/>
          <a:ln/>
        </p:spPr>
        <p:txBody>
          <a:bodyPr wrap="square" lIns="0" tIns="0" rIns="0" bIns="0" rtlCol="0" anchor="t"/>
          <a:lstStyle/>
          <a:p>
            <a:pPr indent="0" marL="0">
              <a:buNone/>
            </a:pPr>
            <a:r>
              <a:rPr lang="en-US" sz="5400" b="1" dirty="0">
                <a:solidFill>
                  <a:schemeClr val="tx1"/>
                </a:solidFill>
              </a:rPr>
              <a:t>{{QUOTE}}</a:t>
            </a:r>
            <a:endParaRPr lang="en-US" sz="5400" dirty="0"/>
          </a:p>
        </p:txBody>
      </p:sp>
      <p:sp>
        <p:nvSpPr>
          <p:cNvPr id="8" name="Text 6"/>
          <p:cNvSpPr txBox="1"/>
          <p:nvPr/>
        </p:nvSpPr>
        <p:spPr>
          <a:xfrm>
            <a:off x="6126480" y="2606040"/>
            <a:ext cx="2560320" cy="548640"/>
          </a:xfrm>
          <a:prstGeom prst="rect">
            <a:avLst/>
          </a:prstGeom>
          <a:noFill/>
          <a:ln/>
        </p:spPr>
        <p:txBody>
          <a:bodyPr wrap="square" lIns="0" tIns="0" rIns="0" bIns="0" rtlCol="0" anchor="t"/>
          <a:lstStyle/>
          <a:p>
            <a:pPr indent="0" marL="0">
              <a:buNone/>
            </a:pPr>
            <a:r>
              <a:rPr lang="en-US" sz="1400" dirty="0">
                <a:solidFill>
                  <a:schemeClr val="tx2"/>
                </a:solidFill>
              </a:rPr>
              <a:t>quote-verified rate</a:t>
            </a:r>
            <a:endParaRPr lang="en-US" sz="1400" dirty="0"/>
          </a:p>
        </p:txBody>
      </p:sp>
      <p:sp>
        <p:nvSpPr>
          <p:cNvPr id="9" name="Text 7"/>
          <p:cNvSpPr txBox="1"/>
          <p:nvPr/>
        </p:nvSpPr>
        <p:spPr>
          <a:xfrm>
            <a:off x="8915400" y="1554480"/>
            <a:ext cx="2651760" cy="1005840"/>
          </a:xfrm>
          <a:prstGeom prst="rect">
            <a:avLst/>
          </a:prstGeom>
          <a:noFill/>
          <a:ln/>
        </p:spPr>
        <p:txBody>
          <a:bodyPr wrap="square" lIns="0" tIns="0" rIns="0" bIns="0" rtlCol="0" anchor="t"/>
          <a:lstStyle/>
          <a:p>
            <a:pPr indent="0" marL="0">
              <a:buNone/>
            </a:pPr>
            <a:r>
              <a:rPr lang="en-US" sz="5400" b="1" dirty="0">
                <a:solidFill>
                  <a:schemeClr val="tx1"/>
                </a:solidFill>
              </a:rPr>
              <a:t>{{NPM}}</a:t>
            </a:r>
            <a:endParaRPr lang="en-US" sz="5400" dirty="0"/>
          </a:p>
        </p:txBody>
      </p:sp>
      <p:sp>
        <p:nvSpPr>
          <p:cNvPr id="10" name="Text 8"/>
          <p:cNvSpPr txBox="1"/>
          <p:nvPr/>
        </p:nvSpPr>
        <p:spPr>
          <a:xfrm>
            <a:off x="8915400" y="2606040"/>
            <a:ext cx="2560320" cy="548640"/>
          </a:xfrm>
          <a:prstGeom prst="rect">
            <a:avLst/>
          </a:prstGeom>
          <a:noFill/>
          <a:ln/>
        </p:spPr>
        <p:txBody>
          <a:bodyPr wrap="square" lIns="0" tIns="0" rIns="0" bIns="0" rtlCol="0" anchor="t"/>
          <a:lstStyle/>
          <a:p>
            <a:pPr indent="0" marL="0">
              <a:buNone/>
            </a:pPr>
            <a:r>
              <a:rPr lang="en-US" sz="1400" dirty="0">
                <a:solidFill>
                  <a:schemeClr val="tx2"/>
                </a:solidFill>
              </a:rPr>
              <a:t>notes per minute</a:t>
            </a:r>
            <a:endParaRPr lang="en-US" sz="1400" dirty="0"/>
          </a:p>
        </p:txBody>
      </p:sp>
      <p:sp>
        <p:nvSpPr>
          <p:cNvPr id="11" name="Shape 9"/>
          <p:cNvSpPr/>
          <p:nvPr/>
        </p:nvSpPr>
        <p:spPr>
          <a:xfrm>
            <a:off x="548640" y="3429000"/>
            <a:ext cx="3200400" cy="15087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12" name="Shape 10"/>
          <p:cNvSpPr/>
          <p:nvPr/>
        </p:nvSpPr>
        <p:spPr>
          <a:xfrm>
            <a:off x="548640" y="3429000"/>
            <a:ext cx="3200400" cy="15087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13" name="Text 11"/>
          <p:cNvSpPr txBox="1"/>
          <p:nvPr/>
        </p:nvSpPr>
        <p:spPr>
          <a:xfrm>
            <a:off x="822960" y="3566160"/>
            <a:ext cx="2651760" cy="731520"/>
          </a:xfrm>
          <a:prstGeom prst="rect">
            <a:avLst/>
          </a:prstGeom>
          <a:noFill/>
          <a:ln/>
        </p:spPr>
        <p:txBody>
          <a:bodyPr wrap="square" lIns="0" tIns="0" rIns="0" bIns="0" rtlCol="0" anchor="t"/>
          <a:lstStyle/>
          <a:p>
            <a:pPr indent="0" marL="0">
              <a:buNone/>
            </a:pPr>
            <a:r>
              <a:rPr lang="en-US" sz="4000" b="1" dirty="0">
                <a:solidFill>
                  <a:schemeClr val="tx1"/>
                </a:solidFill>
              </a:rPr>
              <a:t>{{PROPOSED}}</a:t>
            </a:r>
            <a:endParaRPr lang="en-US" sz="4000" dirty="0"/>
          </a:p>
        </p:txBody>
      </p:sp>
      <p:sp>
        <p:nvSpPr>
          <p:cNvPr id="14" name="Text 12"/>
          <p:cNvSpPr txBox="1"/>
          <p:nvPr/>
        </p:nvSpPr>
        <p:spPr>
          <a:xfrm>
            <a:off x="822960" y="4343400"/>
            <a:ext cx="2651760" cy="457200"/>
          </a:xfrm>
          <a:prstGeom prst="rect">
            <a:avLst/>
          </a:prstGeom>
          <a:noFill/>
          <a:ln/>
        </p:spPr>
        <p:txBody>
          <a:bodyPr wrap="square" lIns="0" tIns="0" rIns="0" bIns="0" rtlCol="0" anchor="t"/>
          <a:lstStyle/>
          <a:p>
            <a:pPr indent="0" marL="0">
              <a:buNone/>
            </a:pPr>
            <a:r>
              <a:rPr lang="en-US" sz="1400" dirty="0">
                <a:solidFill>
                  <a:schemeClr val="tx2"/>
                </a:solidFill>
              </a:rPr>
              <a:t>flags proposed by the AI</a:t>
            </a:r>
            <a:endParaRPr lang="en-US" sz="1400" dirty="0"/>
          </a:p>
        </p:txBody>
      </p:sp>
      <p:sp>
        <p:nvSpPr>
          <p:cNvPr id="15" name="Shape 13"/>
          <p:cNvSpPr/>
          <p:nvPr/>
        </p:nvSpPr>
        <p:spPr>
          <a:xfrm>
            <a:off x="4480560" y="3429000"/>
            <a:ext cx="3200400" cy="15087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16" name="Shape 14"/>
          <p:cNvSpPr/>
          <p:nvPr/>
        </p:nvSpPr>
        <p:spPr>
          <a:xfrm>
            <a:off x="4480560" y="3429000"/>
            <a:ext cx="3200400" cy="15087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17" name="Text 15"/>
          <p:cNvSpPr txBox="1"/>
          <p:nvPr/>
        </p:nvSpPr>
        <p:spPr>
          <a:xfrm>
            <a:off x="4754880" y="3566160"/>
            <a:ext cx="2651760" cy="731520"/>
          </a:xfrm>
          <a:prstGeom prst="rect">
            <a:avLst/>
          </a:prstGeom>
          <a:noFill/>
          <a:ln/>
        </p:spPr>
        <p:txBody>
          <a:bodyPr wrap="square" lIns="0" tIns="0" rIns="0" bIns="0" rtlCol="0" anchor="t"/>
          <a:lstStyle/>
          <a:p>
            <a:pPr indent="0" marL="0">
              <a:buNone/>
            </a:pPr>
            <a:r>
              <a:rPr lang="en-US" sz="4000" b="1" dirty="0">
                <a:solidFill>
                  <a:schemeClr val="accent1"/>
                </a:solidFill>
              </a:rPr>
              <a:t>{{DROPPED}}</a:t>
            </a:r>
            <a:endParaRPr lang="en-US" sz="4000" dirty="0"/>
          </a:p>
        </p:txBody>
      </p:sp>
      <p:sp>
        <p:nvSpPr>
          <p:cNvPr id="18" name="Text 16"/>
          <p:cNvSpPr txBox="1"/>
          <p:nvPr/>
        </p:nvSpPr>
        <p:spPr>
          <a:xfrm>
            <a:off x="4754880" y="4343400"/>
            <a:ext cx="2651760" cy="457200"/>
          </a:xfrm>
          <a:prstGeom prst="rect">
            <a:avLst/>
          </a:prstGeom>
          <a:noFill/>
          <a:ln/>
        </p:spPr>
        <p:txBody>
          <a:bodyPr wrap="square" lIns="0" tIns="0" rIns="0" bIns="0" rtlCol="0" anchor="t"/>
          <a:lstStyle/>
          <a:p>
            <a:pPr indent="0" marL="0">
              <a:buNone/>
            </a:pPr>
            <a:r>
              <a:rPr lang="en-US" sz="1400" dirty="0">
                <a:solidFill>
                  <a:schemeClr val="tx2"/>
                </a:solidFill>
              </a:rPr>
              <a:t>dropped: quote not in the note</a:t>
            </a:r>
            <a:endParaRPr lang="en-US" sz="1400" dirty="0"/>
          </a:p>
        </p:txBody>
      </p:sp>
      <p:sp>
        <p:nvSpPr>
          <p:cNvPr id="19" name="Shape 17"/>
          <p:cNvSpPr/>
          <p:nvPr/>
        </p:nvSpPr>
        <p:spPr>
          <a:xfrm>
            <a:off x="8412480" y="3429000"/>
            <a:ext cx="3200400" cy="1508760"/>
          </a:xfrm>
          <a:prstGeom prst="rect">
            <a:avLst/>
          </a:prstGeom>
          <a:solidFill>
            <a:schemeClr val="bg1"/>
          </a:solidFill>
          <a:ln w="12700">
            <a:solidFill>
              <a:schemeClr val="bg1"/>
            </a:solidFill>
            <a:prstDash val="solid"/>
          </a:ln>
          <a:effectLst>
            <a:outerShdw sx="100000" sy="100000" kx="0" ky="0" algn="bl" rotWithShape="0" blurRad="127000" dist="25400" dir="5400000">
              <a:srgbClr val="12222F">
                <a:alpha val="16000"/>
              </a:srgbClr>
            </a:outerShdw>
          </a:effectLst>
        </p:spPr>
      </p:sp>
      <p:sp>
        <p:nvSpPr>
          <p:cNvPr id="20" name="Shape 18"/>
          <p:cNvSpPr/>
          <p:nvPr/>
        </p:nvSpPr>
        <p:spPr>
          <a:xfrm>
            <a:off x="8412480" y="3429000"/>
            <a:ext cx="3200400" cy="1508760"/>
          </a:xfrm>
          <a:prstGeom prst="rect">
            <a:avLst/>
          </a:prstGeom>
          <a:solidFill>
            <a:schemeClr val="tx1"/>
          </a:solidFill>
          <a:ln w="12700">
            <a:solidFill>
              <a:schemeClr val="tx1"/>
            </a:solidFill>
            <a:prstDash val="solid"/>
          </a:ln>
          <a:effectLst>
            <a:outerShdw sx="100000" sy="100000" kx="0" ky="0" algn="bl" rotWithShape="0" blurRad="127000" dist="25400" dir="5400000">
              <a:srgbClr val="12222F">
                <a:alpha val="16000"/>
              </a:srgbClr>
            </a:outerShdw>
          </a:effectLst>
        </p:spPr>
      </p:sp>
      <p:sp>
        <p:nvSpPr>
          <p:cNvPr id="21" name="Text 19"/>
          <p:cNvSpPr txBox="1"/>
          <p:nvPr/>
        </p:nvSpPr>
        <p:spPr>
          <a:xfrm>
            <a:off x="8686800" y="3566160"/>
            <a:ext cx="2651760" cy="731520"/>
          </a:xfrm>
          <a:prstGeom prst="rect">
            <a:avLst/>
          </a:prstGeom>
          <a:noFill/>
          <a:ln/>
        </p:spPr>
        <p:txBody>
          <a:bodyPr wrap="square" lIns="0" tIns="0" rIns="0" bIns="0" rtlCol="0" anchor="t"/>
          <a:lstStyle/>
          <a:p>
            <a:pPr indent="0" marL="0">
              <a:buNone/>
            </a:pPr>
            <a:r>
              <a:rPr lang="en-US" sz="4000" b="1" dirty="0">
                <a:solidFill>
                  <a:schemeClr val="bg1"/>
                </a:solidFill>
              </a:rPr>
              <a:t>{{KEPT}}</a:t>
            </a:r>
            <a:endParaRPr lang="en-US" sz="4000" dirty="0"/>
          </a:p>
        </p:txBody>
      </p:sp>
      <p:sp>
        <p:nvSpPr>
          <p:cNvPr id="22" name="Text 20"/>
          <p:cNvSpPr txBox="1"/>
          <p:nvPr/>
        </p:nvSpPr>
        <p:spPr>
          <a:xfrm>
            <a:off x="8686800" y="4343400"/>
            <a:ext cx="2651760" cy="457200"/>
          </a:xfrm>
          <a:prstGeom prst="rect">
            <a:avLst/>
          </a:prstGeom>
          <a:noFill/>
          <a:ln/>
        </p:spPr>
        <p:txBody>
          <a:bodyPr wrap="square" lIns="0" tIns="0" rIns="0" bIns="0" rtlCol="0" anchor="t"/>
          <a:lstStyle/>
          <a:p>
            <a:pPr indent="0" marL="0">
              <a:buNone/>
            </a:pPr>
            <a:r>
              <a:rPr lang="en-US" sz="1400" dirty="0">
                <a:solidFill>
                  <a:srgbClr val="B8C4CC"/>
                </a:solidFill>
              </a:rPr>
              <a:t>kept and shown with proof</a:t>
            </a:r>
            <a:endParaRPr lang="en-US" sz="1400" dirty="0"/>
          </a:p>
        </p:txBody>
      </p:sp>
      <p:sp>
        <p:nvSpPr>
          <p:cNvPr id="23" name="Shape 21"/>
          <p:cNvSpPr/>
          <p:nvPr/>
        </p:nvSpPr>
        <p:spPr>
          <a:xfrm>
            <a:off x="3794760" y="3977640"/>
            <a:ext cx="548640" cy="411480"/>
          </a:xfrm>
          <a:prstGeom prst="rightArrow">
            <a:avLst/>
          </a:prstGeom>
          <a:solidFill>
            <a:schemeClr val="tx2"/>
          </a:solidFill>
          <a:ln w="12700">
            <a:solidFill>
              <a:schemeClr val="tx2"/>
            </a:solidFill>
            <a:prstDash val="solid"/>
          </a:ln>
        </p:spPr>
      </p:sp>
      <p:sp>
        <p:nvSpPr>
          <p:cNvPr id="24" name="Shape 22"/>
          <p:cNvSpPr/>
          <p:nvPr/>
        </p:nvSpPr>
        <p:spPr>
          <a:xfrm>
            <a:off x="7726680" y="3977640"/>
            <a:ext cx="548640" cy="411480"/>
          </a:xfrm>
          <a:prstGeom prst="rightArrow">
            <a:avLst/>
          </a:prstGeom>
          <a:solidFill>
            <a:schemeClr val="tx2"/>
          </a:solidFill>
          <a:ln w="12700">
            <a:solidFill>
              <a:schemeClr val="tx2"/>
            </a:solidFill>
            <a:prstDash val="solid"/>
          </a:ln>
        </p:spPr>
      </p:sp>
      <p:sp>
        <p:nvSpPr>
          <p:cNvPr id="25" name="Text 23"/>
          <p:cNvSpPr txBox="1"/>
          <p:nvPr/>
        </p:nvSpPr>
        <p:spPr>
          <a:xfrm>
            <a:off x="548640" y="5349240"/>
            <a:ext cx="11064240" cy="640080"/>
          </a:xfrm>
          <a:prstGeom prst="rect">
            <a:avLst/>
          </a:prstGeom>
          <a:noFill/>
          <a:ln/>
        </p:spPr>
        <p:txBody>
          <a:bodyPr wrap="square" lIns="0" tIns="0" rIns="0" bIns="0" rtlCol="0" anchor="t"/>
          <a:lstStyle/>
          <a:p>
            <a:pPr indent="0" marL="0">
              <a:buNone/>
            </a:pPr>
            <a:r>
              <a:rPr lang="en-US" sz="1800" b="1" dirty="0">
                <a:solidFill>
                  <a:schemeClr val="tx1"/>
                </a:solidFill>
              </a:rPr>
              <a:t>Scored against 25 planted drifts in 200 synthetic notes. {{FALSE}} false alarms, every one listed in the app.</a:t>
            </a:r>
            <a:endParaRPr lang="en-US" sz="18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3800" b="1" dirty="0">
                <a:solidFill>
                  <a:schemeClr val="tx1"/>
                </a:solidFill>
              </a:rPr>
              <a:t>What runs on AMD</a:t>
            </a:r>
            <a:endParaRPr lang="en-US" sz="3800" dirty="0"/>
          </a:p>
        </p:txBody>
      </p:sp>
      <p:sp>
        <p:nvSpPr>
          <p:cNvPr id="3" name="Shape 1"/>
          <p:cNvSpPr/>
          <p:nvPr/>
        </p:nvSpPr>
        <p:spPr>
          <a:xfrm>
            <a:off x="548640" y="1554480"/>
            <a:ext cx="5394960" cy="4297680"/>
          </a:xfrm>
          <a:prstGeom prst="rect">
            <a:avLst/>
          </a:prstGeom>
          <a:solidFill>
            <a:schemeClr val="tx1"/>
          </a:solidFill>
          <a:ln w="12700">
            <a:solidFill>
              <a:schemeClr val="tx1"/>
            </a:solidFill>
            <a:prstDash val="solid"/>
          </a:ln>
          <a:effectLst>
            <a:outerShdw sx="100000" sy="100000" kx="0" ky="0" algn="bl" rotWithShape="0" blurRad="127000" dist="25400" dir="5400000">
              <a:srgbClr val="12222F">
                <a:alpha val="16000"/>
              </a:srgbClr>
            </a:outerShdw>
          </a:effectLst>
        </p:spPr>
      </p:sp>
      <p:sp>
        <p:nvSpPr>
          <p:cNvPr id="4" name="Text 2"/>
          <p:cNvSpPr txBox="1"/>
          <p:nvPr/>
        </p:nvSpPr>
        <p:spPr>
          <a:xfrm>
            <a:off x="914400" y="1828800"/>
            <a:ext cx="4663440" cy="274320"/>
          </a:xfrm>
          <a:prstGeom prst="rect">
            <a:avLst/>
          </a:prstGeom>
          <a:noFill/>
          <a:ln/>
        </p:spPr>
        <p:txBody>
          <a:bodyPr wrap="square" lIns="0" tIns="0" rIns="0" bIns="0" rtlCol="0" anchor="t"/>
          <a:lstStyle/>
          <a:p>
            <a:pPr indent="0" marL="0">
              <a:buNone/>
            </a:pPr>
            <a:r>
              <a:rPr lang="en-US" sz="1200" b="1" dirty="0">
                <a:solidFill>
                  <a:srgbClr val="B8C4CC"/>
                </a:solidFill>
              </a:rPr>
              <a:t>THE AI JUDGE</a:t>
            </a:r>
            <a:endParaRPr lang="en-US" sz="1200" dirty="0"/>
          </a:p>
        </p:txBody>
      </p:sp>
      <p:sp>
        <p:nvSpPr>
          <p:cNvPr id="5" name="Text 3"/>
          <p:cNvSpPr txBox="1"/>
          <p:nvPr/>
        </p:nvSpPr>
        <p:spPr>
          <a:xfrm>
            <a:off x="914400" y="2194560"/>
            <a:ext cx="4663440" cy="640080"/>
          </a:xfrm>
          <a:prstGeom prst="rect">
            <a:avLst/>
          </a:prstGeom>
          <a:noFill/>
          <a:ln/>
        </p:spPr>
        <p:txBody>
          <a:bodyPr wrap="square" lIns="0" tIns="0" rIns="0" bIns="0" rtlCol="0" anchor="t"/>
          <a:lstStyle/>
          <a:p>
            <a:pPr indent="0" marL="0">
              <a:buNone/>
            </a:pPr>
            <a:r>
              <a:rPr lang="en-US" sz="2600" b="1" dirty="0">
                <a:solidFill>
                  <a:schemeClr val="bg1"/>
                </a:solidFill>
              </a:rPr>
              <a:t>{{MODEL}}</a:t>
            </a:r>
            <a:endParaRPr lang="en-US" sz="2600" dirty="0"/>
          </a:p>
        </p:txBody>
      </p:sp>
      <p:sp>
        <p:nvSpPr>
          <p:cNvPr id="6" name="Text 4"/>
          <p:cNvSpPr txBox="1"/>
          <p:nvPr/>
        </p:nvSpPr>
        <p:spPr>
          <a:xfrm>
            <a:off x="914400" y="2926080"/>
            <a:ext cx="4663440" cy="457200"/>
          </a:xfrm>
          <a:prstGeom prst="rect">
            <a:avLst/>
          </a:prstGeom>
          <a:noFill/>
          <a:ln/>
        </p:spPr>
        <p:txBody>
          <a:bodyPr wrap="square" lIns="0" tIns="0" rIns="0" bIns="0" rtlCol="0" anchor="t"/>
          <a:lstStyle/>
          <a:p>
            <a:pPr indent="0" marL="0">
              <a:buNone/>
            </a:pPr>
            <a:r>
              <a:rPr lang="en-US" sz="2000" dirty="0">
                <a:solidFill>
                  <a:schemeClr val="bg1"/>
                </a:solidFill>
              </a:rPr>
              <a:t>on {{GPU}}</a:t>
            </a:r>
            <a:endParaRPr lang="en-US" sz="2000" dirty="0"/>
          </a:p>
        </p:txBody>
      </p:sp>
      <p:sp>
        <p:nvSpPr>
          <p:cNvPr id="7" name="Text 5"/>
          <p:cNvSpPr txBox="1"/>
          <p:nvPr/>
        </p:nvSpPr>
        <p:spPr>
          <a:xfrm>
            <a:off x="914400" y="3474720"/>
            <a:ext cx="4663440" cy="365760"/>
          </a:xfrm>
          <a:prstGeom prst="rect">
            <a:avLst/>
          </a:prstGeom>
          <a:noFill/>
          <a:ln/>
        </p:spPr>
        <p:txBody>
          <a:bodyPr wrap="square" lIns="0" tIns="0" rIns="0" bIns="0" rtlCol="0" anchor="t"/>
          <a:lstStyle/>
          <a:p>
            <a:pPr indent="0" marL="0">
              <a:buNone/>
            </a:pPr>
            <a:r>
              <a:rPr lang="en-US" sz="1600" dirty="0">
                <a:solidFill>
                  <a:srgbClr val="B8C4CC"/>
                </a:solidFill>
              </a:rPr>
              <a:t>served with vLLM on ROCm</a:t>
            </a:r>
            <a:endParaRPr lang="en-US" sz="1600" dirty="0"/>
          </a:p>
        </p:txBody>
      </p:sp>
      <p:sp>
        <p:nvSpPr>
          <p:cNvPr id="8" name="Text 6"/>
          <p:cNvSpPr txBox="1"/>
          <p:nvPr/>
        </p:nvSpPr>
        <p:spPr>
          <a:xfrm>
            <a:off x="914400" y="4114800"/>
            <a:ext cx="4663440" cy="914400"/>
          </a:xfrm>
          <a:prstGeom prst="rect">
            <a:avLst/>
          </a:prstGeom>
          <a:noFill/>
          <a:ln/>
        </p:spPr>
        <p:txBody>
          <a:bodyPr wrap="square" lIns="0" tIns="0" rIns="0" bIns="0" rtlCol="0" anchor="t"/>
          <a:lstStyle/>
          <a:p>
            <a:pPr indent="0" marL="0">
              <a:buNone/>
            </a:pPr>
            <a:r>
              <a:rPr lang="en-US" sz="5400" b="1" dirty="0">
                <a:solidFill>
                  <a:schemeClr val="accent1"/>
                </a:solidFill>
              </a:rPr>
              <a:t>{{NPM}}</a:t>
            </a:r>
            <a:endParaRPr lang="en-US" sz="5400" dirty="0"/>
          </a:p>
        </p:txBody>
      </p:sp>
      <p:sp>
        <p:nvSpPr>
          <p:cNvPr id="9" name="Text 7"/>
          <p:cNvSpPr txBox="1"/>
          <p:nvPr/>
        </p:nvSpPr>
        <p:spPr>
          <a:xfrm>
            <a:off x="914400" y="5074920"/>
            <a:ext cx="4663440" cy="365760"/>
          </a:xfrm>
          <a:prstGeom prst="rect">
            <a:avLst/>
          </a:prstGeom>
          <a:noFill/>
          <a:ln/>
        </p:spPr>
        <p:txBody>
          <a:bodyPr wrap="square" lIns="0" tIns="0" rIns="0" bIns="0" rtlCol="0" anchor="t"/>
          <a:lstStyle/>
          <a:p>
            <a:pPr indent="0" marL="0">
              <a:buNone/>
            </a:pPr>
            <a:r>
              <a:rPr lang="en-US" sz="1600" dirty="0">
                <a:solidFill>
                  <a:srgbClr val="B8C4CC"/>
                </a:solidFill>
              </a:rPr>
              <a:t>notes per minute</a:t>
            </a:r>
            <a:endParaRPr lang="en-US" sz="1600" dirty="0"/>
          </a:p>
        </p:txBody>
      </p:sp>
      <p:sp>
        <p:nvSpPr>
          <p:cNvPr id="10" name="Shape 8"/>
          <p:cNvSpPr/>
          <p:nvPr/>
        </p:nvSpPr>
        <p:spPr>
          <a:xfrm>
            <a:off x="6400800" y="1554480"/>
            <a:ext cx="914400" cy="914400"/>
          </a:xfrm>
          <a:prstGeom prst="rect">
            <a:avLst/>
          </a:prstGeom>
          <a:solidFill>
            <a:schemeClr val="accent2"/>
          </a:solidFill>
          <a:ln w="12700">
            <a:solidFill>
              <a:schemeClr val="accent2"/>
            </a:solidFill>
            <a:prstDash val="solid"/>
          </a:ln>
        </p:spPr>
      </p:sp>
      <p:sp>
        <p:nvSpPr>
          <p:cNvPr id="11" name="Text 9"/>
          <p:cNvSpPr txBox="1"/>
          <p:nvPr/>
        </p:nvSpPr>
        <p:spPr>
          <a:xfrm>
            <a:off x="6400800" y="155448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AMD</a:t>
            </a:r>
            <a:endParaRPr lang="en-US" sz="1600" dirty="0"/>
          </a:p>
        </p:txBody>
      </p:sp>
      <p:sp>
        <p:nvSpPr>
          <p:cNvPr id="12" name="Text 10"/>
          <p:cNvSpPr txBox="1"/>
          <p:nvPr/>
        </p:nvSpPr>
        <p:spPr>
          <a:xfrm>
            <a:off x="7589520" y="1554480"/>
            <a:ext cx="4023360" cy="411480"/>
          </a:xfrm>
          <a:prstGeom prst="rect">
            <a:avLst/>
          </a:prstGeom>
          <a:noFill/>
          <a:ln/>
        </p:spPr>
        <p:txBody>
          <a:bodyPr wrap="square" lIns="0" tIns="0" rIns="0" bIns="0" rtlCol="0" anchor="t"/>
          <a:lstStyle/>
          <a:p>
            <a:pPr indent="0" marL="0">
              <a:buNone/>
            </a:pPr>
            <a:r>
              <a:rPr lang="en-US" sz="2000" b="1" dirty="0">
                <a:solidFill>
                  <a:schemeClr val="tx1"/>
                </a:solidFill>
              </a:rPr>
              <a:t>The AI judge</a:t>
            </a:r>
            <a:endParaRPr lang="en-US" sz="2000" dirty="0"/>
          </a:p>
        </p:txBody>
      </p:sp>
      <p:sp>
        <p:nvSpPr>
          <p:cNvPr id="13" name="Text 11"/>
          <p:cNvSpPr txBox="1"/>
          <p:nvPr/>
        </p:nvSpPr>
        <p:spPr>
          <a:xfrm>
            <a:off x="7589520" y="2011680"/>
            <a:ext cx="4023360" cy="822960"/>
          </a:xfrm>
          <a:prstGeom prst="rect">
            <a:avLst/>
          </a:prstGeom>
          <a:noFill/>
          <a:ln/>
        </p:spPr>
        <p:txBody>
          <a:bodyPr wrap="square" lIns="0" tIns="0" rIns="0" bIns="0" rtlCol="0" anchor="t"/>
          <a:lstStyle/>
          <a:p>
            <a:pPr indent="0" marL="0">
              <a:buNone/>
            </a:pPr>
            <a:r>
              <a:rPr lang="en-US" sz="1400" dirty="0">
                <a:solidFill>
                  <a:schemeClr val="tx2"/>
                </a:solidFill>
              </a:rPr>
              <a:t>Reads each note against candidate steps and returns a structured answer.</a:t>
            </a:r>
            <a:endParaRPr lang="en-US" sz="1400" dirty="0"/>
          </a:p>
        </p:txBody>
      </p:sp>
      <p:sp>
        <p:nvSpPr>
          <p:cNvPr id="14" name="Shape 12"/>
          <p:cNvSpPr/>
          <p:nvPr/>
        </p:nvSpPr>
        <p:spPr>
          <a:xfrm>
            <a:off x="6400800" y="2971800"/>
            <a:ext cx="914400" cy="914400"/>
          </a:xfrm>
          <a:prstGeom prst="rect">
            <a:avLst/>
          </a:prstGeom>
          <a:solidFill>
            <a:schemeClr val="tx2"/>
          </a:solidFill>
          <a:ln w="12700">
            <a:solidFill>
              <a:schemeClr val="tx2"/>
            </a:solidFill>
            <a:prstDash val="solid"/>
          </a:ln>
        </p:spPr>
      </p:sp>
      <p:sp>
        <p:nvSpPr>
          <p:cNvPr id="15" name="Text 13"/>
          <p:cNvSpPr txBox="1"/>
          <p:nvPr/>
        </p:nvSpPr>
        <p:spPr>
          <a:xfrm>
            <a:off x="6400800" y="297180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CODE</a:t>
            </a:r>
            <a:endParaRPr lang="en-US" sz="1600" dirty="0"/>
          </a:p>
        </p:txBody>
      </p:sp>
      <p:sp>
        <p:nvSpPr>
          <p:cNvPr id="16" name="Text 14"/>
          <p:cNvSpPr txBox="1"/>
          <p:nvPr/>
        </p:nvSpPr>
        <p:spPr>
          <a:xfrm>
            <a:off x="7589520" y="2971800"/>
            <a:ext cx="4023360" cy="411480"/>
          </a:xfrm>
          <a:prstGeom prst="rect">
            <a:avLst/>
          </a:prstGeom>
          <a:noFill/>
          <a:ln/>
        </p:spPr>
        <p:txBody>
          <a:bodyPr wrap="square" lIns="0" tIns="0" rIns="0" bIns="0" rtlCol="0" anchor="t"/>
          <a:lstStyle/>
          <a:p>
            <a:pPr indent="0" marL="0">
              <a:buNone/>
            </a:pPr>
            <a:r>
              <a:rPr lang="en-US" sz="2000" b="1" dirty="0">
                <a:solidFill>
                  <a:schemeClr val="tx1"/>
                </a:solidFill>
              </a:rPr>
              <a:t>Plain Python</a:t>
            </a:r>
            <a:endParaRPr lang="en-US" sz="2000" dirty="0"/>
          </a:p>
        </p:txBody>
      </p:sp>
      <p:sp>
        <p:nvSpPr>
          <p:cNvPr id="17" name="Text 15"/>
          <p:cNvSpPr txBox="1"/>
          <p:nvPr/>
        </p:nvSpPr>
        <p:spPr>
          <a:xfrm>
            <a:off x="7589520" y="3429000"/>
            <a:ext cx="4023360" cy="822960"/>
          </a:xfrm>
          <a:prstGeom prst="rect">
            <a:avLst/>
          </a:prstGeom>
          <a:noFill/>
          <a:ln/>
        </p:spPr>
        <p:txBody>
          <a:bodyPr wrap="square" lIns="0" tIns="0" rIns="0" bIns="0" rtlCol="0" anchor="t"/>
          <a:lstStyle/>
          <a:p>
            <a:pPr indent="0" marL="0">
              <a:buNone/>
            </a:pPr>
            <a:r>
              <a:rPr lang="en-US" sz="1400" dirty="0">
                <a:solidFill>
                  <a:schemeClr val="tx2"/>
                </a:solidFill>
              </a:rPr>
              <a:t>Loader, matcher, quote check and counting. No model needed.</a:t>
            </a:r>
            <a:endParaRPr lang="en-US" sz="1400" dirty="0"/>
          </a:p>
        </p:txBody>
      </p:sp>
      <p:sp>
        <p:nvSpPr>
          <p:cNvPr id="18" name="Shape 16"/>
          <p:cNvSpPr/>
          <p:nvPr/>
        </p:nvSpPr>
        <p:spPr>
          <a:xfrm>
            <a:off x="6400800" y="4389120"/>
            <a:ext cx="914400" cy="914400"/>
          </a:xfrm>
          <a:prstGeom prst="rect">
            <a:avLst/>
          </a:prstGeom>
          <a:solidFill>
            <a:schemeClr val="tx1"/>
          </a:solidFill>
          <a:ln w="12700">
            <a:solidFill>
              <a:schemeClr val="tx1"/>
            </a:solidFill>
            <a:prstDash val="solid"/>
          </a:ln>
        </p:spPr>
      </p:sp>
      <p:sp>
        <p:nvSpPr>
          <p:cNvPr id="19" name="Text 17"/>
          <p:cNvSpPr txBox="1"/>
          <p:nvPr/>
        </p:nvSpPr>
        <p:spPr>
          <a:xfrm>
            <a:off x="6400800" y="438912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WEB</a:t>
            </a:r>
            <a:endParaRPr lang="en-US" sz="1600" dirty="0"/>
          </a:p>
        </p:txBody>
      </p:sp>
      <p:sp>
        <p:nvSpPr>
          <p:cNvPr id="20" name="Text 18"/>
          <p:cNvSpPr txBox="1"/>
          <p:nvPr/>
        </p:nvSpPr>
        <p:spPr>
          <a:xfrm>
            <a:off x="7589520" y="4389120"/>
            <a:ext cx="4023360" cy="411480"/>
          </a:xfrm>
          <a:prstGeom prst="rect">
            <a:avLst/>
          </a:prstGeom>
          <a:noFill/>
          <a:ln/>
        </p:spPr>
        <p:txBody>
          <a:bodyPr wrap="square" lIns="0" tIns="0" rIns="0" bIns="0" rtlCol="0" anchor="t"/>
          <a:lstStyle/>
          <a:p>
            <a:pPr indent="0" marL="0">
              <a:buNone/>
            </a:pPr>
            <a:r>
              <a:rPr lang="en-US" sz="2000" b="1" dirty="0">
                <a:solidFill>
                  <a:schemeClr val="tx1"/>
                </a:solidFill>
              </a:rPr>
              <a:t>Streamlit app</a:t>
            </a:r>
            <a:endParaRPr lang="en-US" sz="2000" dirty="0"/>
          </a:p>
        </p:txBody>
      </p:sp>
      <p:sp>
        <p:nvSpPr>
          <p:cNvPr id="21" name="Text 19"/>
          <p:cNvSpPr txBox="1"/>
          <p:nvPr/>
        </p:nvSpPr>
        <p:spPr>
          <a:xfrm>
            <a:off x="7589520" y="4846320"/>
            <a:ext cx="4023360" cy="822960"/>
          </a:xfrm>
          <a:prstGeom prst="rect">
            <a:avLst/>
          </a:prstGeom>
          <a:noFill/>
          <a:ln/>
        </p:spPr>
        <p:txBody>
          <a:bodyPr wrap="square" lIns="0" tIns="0" rIns="0" bIns="0" rtlCol="0" anchor="t"/>
          <a:lstStyle/>
          <a:p>
            <a:pPr indent="0" marL="0">
              <a:buNone/>
            </a:pPr>
            <a:r>
              <a:rPr lang="en-US" sz="1400" dirty="0">
                <a:solidFill>
                  <a:schemeClr val="tx2"/>
                </a:solidFill>
              </a:rPr>
              <a:t>Runs in a linux/amd64 Docker container with no keys inside.</a:t>
            </a:r>
            <a:endParaRPr lang="en-US" sz="1400" dirty="0"/>
          </a:p>
        </p:txBody>
      </p:sp>
      <p:sp>
        <p:nvSpPr>
          <p:cNvPr id="22" name="Text 20"/>
          <p:cNvSpPr txBox="1"/>
          <p:nvPr/>
        </p:nvSpPr>
        <p:spPr>
          <a:xfrm>
            <a:off x="6400800" y="5806440"/>
            <a:ext cx="5212080" cy="548640"/>
          </a:xfrm>
          <a:prstGeom prst="rect">
            <a:avLst/>
          </a:prstGeom>
          <a:noFill/>
          <a:ln/>
        </p:spPr>
        <p:txBody>
          <a:bodyPr wrap="square" lIns="0" tIns="0" rIns="0" bIns="0" rtlCol="0" anchor="t"/>
          <a:lstStyle/>
          <a:p>
            <a:pPr indent="0" marL="0">
              <a:buNone/>
            </a:pPr>
            <a:r>
              <a:rPr lang="en-US" sz="1400" dirty="0">
                <a:solidFill>
                  <a:schemeClr val="tx2"/>
                </a:solidFill>
              </a:rPr>
              <a:t>Any OpenAI-compatible endpoint works, so the model can change without changing the pipeline.</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3800" b="1" dirty="0">
                <a:solidFill>
                  <a:schemeClr val="bg1"/>
                </a:solidFill>
              </a:rPr>
              <a:t>Why it matters, and what is next</a:t>
            </a:r>
            <a:endParaRPr lang="en-US" sz="3800" dirty="0"/>
          </a:p>
        </p:txBody>
      </p:sp>
      <p:sp>
        <p:nvSpPr>
          <p:cNvPr id="3" name="Text 1"/>
          <p:cNvSpPr txBox="1"/>
          <p:nvPr/>
        </p:nvSpPr>
        <p:spPr>
          <a:xfrm>
            <a:off x="548640" y="1645920"/>
            <a:ext cx="5029200" cy="914400"/>
          </a:xfrm>
          <a:prstGeom prst="rect">
            <a:avLst/>
          </a:prstGeom>
          <a:noFill/>
          <a:ln/>
        </p:spPr>
        <p:txBody>
          <a:bodyPr wrap="square" lIns="0" tIns="0" rIns="0" bIns="0" rtlCol="0" anchor="t"/>
          <a:lstStyle/>
          <a:p>
            <a:pPr indent="0" marL="0">
              <a:buNone/>
            </a:pPr>
            <a:r>
              <a:rPr lang="en-US" sz="5400" b="1" dirty="0">
                <a:solidFill>
                  <a:schemeClr val="bg1"/>
                </a:solidFill>
              </a:rPr>
              <a:t>{{MANUAL}}</a:t>
            </a:r>
            <a:endParaRPr lang="en-US" sz="5400" dirty="0"/>
          </a:p>
        </p:txBody>
      </p:sp>
      <p:sp>
        <p:nvSpPr>
          <p:cNvPr id="4" name="Text 2"/>
          <p:cNvSpPr txBox="1"/>
          <p:nvPr/>
        </p:nvSpPr>
        <p:spPr>
          <a:xfrm>
            <a:off x="548640" y="2606040"/>
            <a:ext cx="5029200" cy="365760"/>
          </a:xfrm>
          <a:prstGeom prst="rect">
            <a:avLst/>
          </a:prstGeom>
          <a:noFill/>
          <a:ln/>
        </p:spPr>
        <p:txBody>
          <a:bodyPr wrap="square" lIns="0" tIns="0" rIns="0" bIns="0" rtlCol="0" anchor="t"/>
          <a:lstStyle/>
          <a:p>
            <a:pPr indent="0" marL="0">
              <a:buNone/>
            </a:pPr>
            <a:r>
              <a:rPr lang="en-US" sz="1600" dirty="0">
                <a:solidFill>
                  <a:srgbClr val="B8C4CC"/>
                </a:solidFill>
              </a:rPr>
              <a:t>minutes to read 200 notes by hand</a:t>
            </a:r>
            <a:endParaRPr lang="en-US" sz="1600" dirty="0"/>
          </a:p>
        </p:txBody>
      </p:sp>
      <p:sp>
        <p:nvSpPr>
          <p:cNvPr id="5" name="Text 3"/>
          <p:cNvSpPr txBox="1"/>
          <p:nvPr/>
        </p:nvSpPr>
        <p:spPr>
          <a:xfrm>
            <a:off x="548640" y="3200400"/>
            <a:ext cx="5029200" cy="914400"/>
          </a:xfrm>
          <a:prstGeom prst="rect">
            <a:avLst/>
          </a:prstGeom>
          <a:noFill/>
          <a:ln/>
        </p:spPr>
        <p:txBody>
          <a:bodyPr wrap="square" lIns="0" tIns="0" rIns="0" bIns="0" rtlCol="0" anchor="t"/>
          <a:lstStyle/>
          <a:p>
            <a:pPr indent="0" marL="0">
              <a:buNone/>
            </a:pPr>
            <a:r>
              <a:rPr lang="en-US" sz="5400" b="1" dirty="0">
                <a:solidFill>
                  <a:schemeClr val="accent1"/>
                </a:solidFill>
              </a:rPr>
              <a:t>{{TOOL}}</a:t>
            </a:r>
            <a:endParaRPr lang="en-US" sz="5400" dirty="0"/>
          </a:p>
        </p:txBody>
      </p:sp>
      <p:sp>
        <p:nvSpPr>
          <p:cNvPr id="6" name="Text 4"/>
          <p:cNvSpPr txBox="1"/>
          <p:nvPr/>
        </p:nvSpPr>
        <p:spPr>
          <a:xfrm>
            <a:off x="548640" y="4160520"/>
            <a:ext cx="5029200" cy="365760"/>
          </a:xfrm>
          <a:prstGeom prst="rect">
            <a:avLst/>
          </a:prstGeom>
          <a:noFill/>
          <a:ln/>
        </p:spPr>
        <p:txBody>
          <a:bodyPr wrap="square" lIns="0" tIns="0" rIns="0" bIns="0" rtlCol="0" anchor="t"/>
          <a:lstStyle/>
          <a:p>
            <a:pPr indent="0" marL="0">
              <a:buNone/>
            </a:pPr>
            <a:r>
              <a:rPr lang="en-US" sz="1600" dirty="0">
                <a:solidFill>
                  <a:srgbClr val="B8C4CC"/>
                </a:solidFill>
              </a:rPr>
              <a:t>minutes with the tool, review included</a:t>
            </a:r>
            <a:endParaRPr lang="en-US" sz="1600" dirty="0"/>
          </a:p>
        </p:txBody>
      </p:sp>
      <p:sp>
        <p:nvSpPr>
          <p:cNvPr id="7" name="Text 5"/>
          <p:cNvSpPr txBox="1"/>
          <p:nvPr/>
        </p:nvSpPr>
        <p:spPr>
          <a:xfrm>
            <a:off x="548640" y="4754880"/>
            <a:ext cx="5029200" cy="548640"/>
          </a:xfrm>
          <a:prstGeom prst="rect">
            <a:avLst/>
          </a:prstGeom>
          <a:noFill/>
          <a:ln/>
        </p:spPr>
        <p:txBody>
          <a:bodyPr wrap="square" lIns="0" tIns="0" rIns="0" bIns="0" rtlCol="0" anchor="t"/>
          <a:lstStyle/>
          <a:p>
            <a:pPr indent="0" marL="0">
              <a:buNone/>
            </a:pPr>
            <a:r>
              <a:rPr lang="en-US" sz="1200" dirty="0">
                <a:solidFill>
                  <a:srgbClr val="B8C4CC"/>
                </a:solidFill>
              </a:rPr>
              <a:t>Estimate: {{BASIS}}</a:t>
            </a:r>
            <a:endParaRPr lang="en-US" sz="1200" dirty="0"/>
          </a:p>
        </p:txBody>
      </p:sp>
      <p:sp>
        <p:nvSpPr>
          <p:cNvPr id="8" name="Text 6"/>
          <p:cNvSpPr txBox="1"/>
          <p:nvPr/>
        </p:nvSpPr>
        <p:spPr>
          <a:xfrm>
            <a:off x="6400800" y="1645920"/>
            <a:ext cx="5212080" cy="365760"/>
          </a:xfrm>
          <a:prstGeom prst="rect">
            <a:avLst/>
          </a:prstGeom>
          <a:noFill/>
          <a:ln/>
        </p:spPr>
        <p:txBody>
          <a:bodyPr wrap="square" lIns="0" tIns="0" rIns="0" bIns="0" rtlCol="0" anchor="t"/>
          <a:lstStyle/>
          <a:p>
            <a:pPr indent="0" marL="0">
              <a:buNone/>
            </a:pPr>
            <a:r>
              <a:rPr lang="en-US" sz="2000" b="1" dirty="0">
                <a:solidFill>
                  <a:schemeClr val="accent1"/>
                </a:solidFill>
              </a:rPr>
              <a:t>NEXT</a:t>
            </a:r>
            <a:endParaRPr lang="en-US" sz="2000" dirty="0"/>
          </a:p>
        </p:txBody>
      </p:sp>
      <p:sp>
        <p:nvSpPr>
          <p:cNvPr id="9" name="Shape 7"/>
          <p:cNvSpPr/>
          <p:nvPr/>
        </p:nvSpPr>
        <p:spPr>
          <a:xfrm>
            <a:off x="6400800" y="2240280"/>
            <a:ext cx="502920" cy="502920"/>
          </a:xfrm>
          <a:prstGeom prst="rect">
            <a:avLst/>
          </a:prstGeom>
          <a:solidFill>
            <a:schemeClr val="accent1"/>
          </a:solidFill>
          <a:ln w="12700">
            <a:solidFill>
              <a:schemeClr val="accent1"/>
            </a:solidFill>
            <a:prstDash val="solid"/>
          </a:ln>
        </p:spPr>
      </p:sp>
      <p:sp>
        <p:nvSpPr>
          <p:cNvPr id="10" name="Text 8"/>
          <p:cNvSpPr txBox="1"/>
          <p:nvPr/>
        </p:nvSpPr>
        <p:spPr>
          <a:xfrm>
            <a:off x="6400800" y="22402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9"/>
          <p:cNvSpPr txBox="1"/>
          <p:nvPr/>
        </p:nvSpPr>
        <p:spPr>
          <a:xfrm>
            <a:off x="7132320" y="2240280"/>
            <a:ext cx="4480560" cy="731520"/>
          </a:xfrm>
          <a:prstGeom prst="rect">
            <a:avLst/>
          </a:prstGeom>
          <a:noFill/>
          <a:ln/>
        </p:spPr>
        <p:txBody>
          <a:bodyPr wrap="square" lIns="0" tIns="0" rIns="0" bIns="0" rtlCol="0" anchor="ctr"/>
          <a:lstStyle/>
          <a:p>
            <a:pPr indent="0" marL="0">
              <a:buNone/>
            </a:pPr>
            <a:r>
              <a:rPr lang="en-US" sz="1800" dirty="0">
                <a:solidFill>
                  <a:schemeClr val="bg1"/>
                </a:solidFill>
              </a:rPr>
              <a:t>Draft SOP fixes for outdated flags, for a person to approve</a:t>
            </a:r>
            <a:endParaRPr lang="en-US" sz="1800" dirty="0"/>
          </a:p>
        </p:txBody>
      </p:sp>
      <p:sp>
        <p:nvSpPr>
          <p:cNvPr id="12" name="Shape 10"/>
          <p:cNvSpPr/>
          <p:nvPr/>
        </p:nvSpPr>
        <p:spPr>
          <a:xfrm>
            <a:off x="6400800" y="3200400"/>
            <a:ext cx="502920" cy="502920"/>
          </a:xfrm>
          <a:prstGeom prst="rect">
            <a:avLst/>
          </a:prstGeom>
          <a:solidFill>
            <a:schemeClr val="accent1"/>
          </a:solidFill>
          <a:ln w="12700">
            <a:solidFill>
              <a:schemeClr val="accent1"/>
            </a:solidFill>
            <a:prstDash val="solid"/>
          </a:ln>
        </p:spPr>
      </p:sp>
      <p:sp>
        <p:nvSpPr>
          <p:cNvPr id="13" name="Text 11"/>
          <p:cNvSpPr txBox="1"/>
          <p:nvPr/>
        </p:nvSpPr>
        <p:spPr>
          <a:xfrm>
            <a:off x="6400800" y="3200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2"/>
          <p:cNvSpPr txBox="1"/>
          <p:nvPr/>
        </p:nvSpPr>
        <p:spPr>
          <a:xfrm>
            <a:off x="7132320" y="3200400"/>
            <a:ext cx="4480560" cy="731520"/>
          </a:xfrm>
          <a:prstGeom prst="rect">
            <a:avLst/>
          </a:prstGeom>
          <a:noFill/>
          <a:ln/>
        </p:spPr>
        <p:txBody>
          <a:bodyPr wrap="square" lIns="0" tIns="0" rIns="0" bIns="0" rtlCol="0" anchor="ctr"/>
          <a:lstStyle/>
          <a:p>
            <a:pPr indent="0" marL="0">
              <a:buNone/>
            </a:pPr>
            <a:r>
              <a:rPr lang="en-US" sz="1800" dirty="0">
                <a:solidFill>
                  <a:schemeClr val="bg1"/>
                </a:solidFill>
              </a:rPr>
              <a:t>Weekly alert when a step's drift count rises</a:t>
            </a:r>
            <a:endParaRPr lang="en-US" sz="1800" dirty="0"/>
          </a:p>
        </p:txBody>
      </p:sp>
      <p:sp>
        <p:nvSpPr>
          <p:cNvPr id="15" name="Shape 13"/>
          <p:cNvSpPr/>
          <p:nvPr/>
        </p:nvSpPr>
        <p:spPr>
          <a:xfrm>
            <a:off x="6400800" y="4160520"/>
            <a:ext cx="502920" cy="502920"/>
          </a:xfrm>
          <a:prstGeom prst="rect">
            <a:avLst/>
          </a:prstGeom>
          <a:solidFill>
            <a:schemeClr val="accent1"/>
          </a:solidFill>
          <a:ln w="12700">
            <a:solidFill>
              <a:schemeClr val="accent1"/>
            </a:solidFill>
            <a:prstDash val="solid"/>
          </a:ln>
        </p:spPr>
      </p:sp>
      <p:sp>
        <p:nvSpPr>
          <p:cNvPr id="16" name="Text 14"/>
          <p:cNvSpPr txBox="1"/>
          <p:nvPr/>
        </p:nvSpPr>
        <p:spPr>
          <a:xfrm>
            <a:off x="6400800" y="41605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7132320" y="4160520"/>
            <a:ext cx="4480560" cy="731520"/>
          </a:xfrm>
          <a:prstGeom prst="rect">
            <a:avLst/>
          </a:prstGeom>
          <a:noFill/>
          <a:ln/>
        </p:spPr>
        <p:txBody>
          <a:bodyPr wrap="square" lIns="0" tIns="0" rIns="0" bIns="0" rtlCol="0" anchor="ctr"/>
          <a:lstStyle/>
          <a:p>
            <a:pPr indent="0" marL="0">
              <a:buNone/>
            </a:pPr>
            <a:r>
              <a:rPr lang="en-US" sz="1800" dirty="0">
                <a:solidFill>
                  <a:schemeClr val="bg1"/>
                </a:solidFill>
              </a:rPr>
              <a:t>Read a plant's own logbooks and SOP files directly</a:t>
            </a:r>
            <a:endParaRPr lang="en-US" sz="1800" dirty="0"/>
          </a:p>
        </p:txBody>
      </p:sp>
      <p:sp>
        <p:nvSpPr>
          <p:cNvPr id="18" name="Text 1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400" dirty="0">
                <a:solidFill>
                  <a:srgbClr val="B8C4CC"/>
                </a:solidFill>
              </a:rPr>
              <a:t>Not a safety control. Every flag needs a human decision. All data is synthetic.</a:t>
            </a:r>
            <a:endParaRPr lang="en-US" sz="1400" dirty="0"/>
          </a:p>
        </p:txBody>
      </p:sp>
    </p:spTree>
  </p:cSld>
  <p:clrMapOvr>
    <a:masterClrMapping/>
  </p:clrMapOvr>
</p:sld>
</file>

<file path=ppt/theme/theme1.xml><?xml version="1.0" encoding="utf-8"?>
<a:theme xmlns:a="http://schemas.openxmlformats.org/drawingml/2006/main" name="Drift Finder">
  <a:themeElements>
    <a:clrScheme name="Drift Finder">
      <a:dk1>
        <a:srgbClr val="12222F"/>
      </a:dk1>
      <a:lt1>
        <a:srgbClr val="FFFFFF"/>
      </a:lt1>
      <a:dk2>
        <a:srgbClr val="5E7080"/>
      </a:dk2>
      <a:lt2>
        <a:srgbClr val="EEF1F0"/>
      </a:lt2>
      <a:accent1>
        <a:srgbClr val="E8590C"/>
      </a:accent1>
      <a:accent2>
        <a:srgbClr val="3B6E8F"/>
      </a:accent2>
      <a:accent3>
        <a:srgbClr val="2E7D5B"/>
      </a:accent3>
      <a:accent4>
        <a:srgbClr val="5E7080"/>
      </a:accent4>
      <a:accent5>
        <a:srgbClr val="12222F"/>
      </a:accent5>
      <a:accent6>
        <a:srgbClr val="E8590C"/>
      </a:accent6>
      <a:hlink>
        <a:srgbClr val="3B6E8F"/>
      </a:hlink>
      <a:folHlink>
        <a:srgbClr val="5E7080"/>
      </a:folHlink>
    </a:clrScheme>
    <a:fontScheme name="Drift Find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Procedure Drift Finder</dc:title>
  <dc:subject>PptxGenJS Presentation</dc:subject>
  <dc:creator>Procedure Drift Finder team</dc:creator>
  <cp:lastModifiedBy>Procedure Drift Finder team</cp:lastModifiedBy>
  <cp:revision>1</cp:revision>
  <dcterms:created xsi:type="dcterms:W3CDTF">2026-10-18T09:04:07Z</dcterms:created>
  <dcterms:modified xsi:type="dcterms:W3CDTF">2026-10-18T09:04:07Z</dcterms:modified>
</cp:coreProperties>
</file>